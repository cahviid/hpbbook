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  <p:sldMasterId id="2147483648" r:id="rId8"/>
  </p:sldMasterIdLst>
  <p:notesMasterIdLst>
    <p:notesMasterId r:id="rId98"/>
  </p:notesMasterIdLst>
  <p:handoutMasterIdLst>
    <p:handoutMasterId r:id="rId9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</p:sldIdLst>
  <p:sldSz cx="12190413" cy="6858000"/>
  <p:notesSz cx="6858000" cy="9144000"/>
  <p:custDataLst>
    <p:tags r:id="rId10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6FDE3-94FD-4C10-8D4F-CBB43A879E3E}" v="6" dt="2026-10-07T20:30:4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8" autoAdjust="0"/>
    <p:restoredTop sz="96098" autoAdjust="0"/>
  </p:normalViewPr>
  <p:slideViewPr>
    <p:cSldViewPr showGuides="1">
      <p:cViewPr varScale="1">
        <p:scale>
          <a:sx n="94" d="100"/>
          <a:sy n="94" d="100"/>
        </p:scale>
        <p:origin x="90" y="3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slideMaster" Target="slideMasters/slideMaster1.xml"/><Relationship Id="rId8" Type="http://schemas.openxmlformats.org/officeDocument/2006/relationships/slideMaster" Target="slideMasters/slideMaster2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98" Type="http://schemas.openxmlformats.org/officeDocument/2006/relationships/notesMaster" Target="notesMasters/notesMaster1.xml"/><Relationship Id="rId99" Type="http://schemas.openxmlformats.org/officeDocument/2006/relationships/handoutMaster" Target="handoutMasters/handoutMaster1.xml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microsoft.com/office/2016/11/relationships/changesInfo" Target="changesInfos/changesInfo1.xml"/><Relationship Id="rId10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nker Hviid" userId="bae0bce0-65f9-439a-b9ea-9e02c6eefaa0" providerId="ADAL" clId="{3448FE47-1094-44DD-B9A2-7F65BCBFB61F}"/>
    <pc:docChg chg="undo custSel addSld delSld modSld sldOrd modMainMaster">
      <pc:chgData name="Christian Anker Hviid" userId="bae0bce0-65f9-439a-b9ea-9e02c6eefaa0" providerId="ADAL" clId="{3448FE47-1094-44DD-B9A2-7F65BCBFB61F}" dt="2026-10-07T20:31:55.564" v="2343" actId="20577"/>
      <pc:docMkLst>
        <pc:docMk/>
      </pc:docMkLst>
      <pc:sldChg chg="modSp new mod ord modShow">
        <pc:chgData name="Christian Anker Hviid" userId="bae0bce0-65f9-439a-b9ea-9e02c6eefaa0" providerId="ADAL" clId="{3448FE47-1094-44DD-B9A2-7F65BCBFB61F}" dt="2026-10-07T20:31:55.564" v="2343" actId="20577"/>
        <pc:sldMkLst>
          <pc:docMk/>
          <pc:sldMk cId="1600414983" sldId="398"/>
        </pc:sldMkLst>
        <pc:spChg chg="mod">
          <ac:chgData name="Christian Anker Hviid" userId="bae0bce0-65f9-439a-b9ea-9e02c6eefaa0" providerId="ADAL" clId="{3448FE47-1094-44DD-B9A2-7F65BCBFB61F}" dt="2026-10-07T20:21:04.850" v="1707" actId="20577"/>
          <ac:spMkLst>
            <pc:docMk/>
            <pc:sldMk cId="1600414983" sldId="398"/>
            <ac:spMk id="2" creationId="{58590A65-FE16-8C42-340F-8B327F3DF827}"/>
          </ac:spMkLst>
        </pc:spChg>
        <pc:spChg chg="mod">
          <ac:chgData name="Christian Anker Hviid" userId="bae0bce0-65f9-439a-b9ea-9e02c6eefaa0" providerId="ADAL" clId="{3448FE47-1094-44DD-B9A2-7F65BCBFB61F}" dt="2026-10-07T20:31:55.564" v="2343" actId="20577"/>
          <ac:spMkLst>
            <pc:docMk/>
            <pc:sldMk cId="1600414983" sldId="398"/>
            <ac:spMk id="3" creationId="{FB86305B-0C31-EC4A-02D7-57085DB041A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from the ventilative cooling chapter draft (cooling/drafts/ventilation-modes.png).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lecture 16.2 Venting hatches. Two panels because one thick panel blocks the opening and cannot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Svidt, Heiselberg &amp; Nielsen (2000), Table 1: Ka ≈ 7, x0 ≈ −2 m. Only valid well away from the hatch. Heiselberg (2006): the supply acts as a jet for ΔT &lt; 5 K and/or Δp &gt; 4–6 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Heiselberg, Dam, Sørensen, Nielsen &amp; Svidt (1999). Characteristics of air flow through windows. HybVent Forum '99, Sydney. AAU Indoor Env. Eng. No. 103. The paper has photos of the three windows (Fig. 3); the drawing here is ours. No window dimensions are given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Heiselberg, Dam, Sørensen, Nielsen &amp; Svidt (1999). Characteristics of air flow through windows. HybVent Forum '99, Sydney. AAU Indoor Env. Eng. No. 103.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Heiselberg, Dam, Sørensen, Nielsen &amp; Svidt (1999). Characteristics of air flow through windows. HybVent Forum '99, Sydney. AAU Indoor Env. Eng. No. 103. Cd measured for type 1 (side-hung) only; the paper gives Cd as plots, not tables. IDA ICE default Cd = 0.65 (lecture 16.1).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Nielsen, Dam, Sørensen, Svidt &amp; Heiselberg (2000). Characteristics of buoyant flow from open windows in naturally ventilated rooms. ROOMVENT 2000, 825–830. Velocities in the 1999 paper (Fig. 11): ΔT 4.5–8.5 K, 99–389 m³/h, 0–5 m from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CFD thread. Low opening keeps cold air on the floor; high opening mixes it but the jet can still drop at the far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apply the 0.82 'feet factor': it was a misread correlation coefficient. Use plain ISO 7730 DR and the ASHRAE 55 ankle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Computed in make_figures.py: v = K q0 / x at x = 1 m; DR solved for 20 % with Tu = 40 %. Compare with the Roth et al. (2023) chart in lecture 16.2 (CBE/ankle curve).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4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975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203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Construct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41463 HPB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Passive cooling 2: Venting hatches and draught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9" r:id="rId12"/>
    <p:sldLayoutId id="2147483680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694" y="304800"/>
            <a:ext cx="10361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694" y="1600200"/>
            <a:ext cx="10361851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text styles</a:t>
            </a:r>
          </a:p>
          <a:p>
            <a:pPr lvl="1"/>
            <a:r>
              <a:rPr lang="en-GB" altLang="da-DK"/>
              <a:t>Second level</a:t>
            </a:r>
          </a:p>
          <a:p>
            <a:pPr lvl="2"/>
            <a:r>
              <a:rPr lang="en-GB" altLang="da-DK"/>
              <a:t>Third level</a:t>
            </a:r>
          </a:p>
          <a:p>
            <a:pPr lvl="3"/>
            <a:r>
              <a:rPr lang="en-GB" altLang="da-DK"/>
              <a:t>Fourth level</a:t>
            </a:r>
          </a:p>
          <a:p>
            <a:pPr lvl="4"/>
            <a:r>
              <a:rPr lang="en-GB" altLang="da-DK"/>
              <a:t>Fifth level</a:t>
            </a:r>
          </a:p>
        </p:txBody>
      </p:sp>
      <p:pic>
        <p:nvPicPr>
          <p:cNvPr id="1028" name="Picture 9" descr="DTU-DK-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399" y="279400"/>
            <a:ext cx="6391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1"/>
          <p:cNvSpPr>
            <a:spLocks noChangeArrowheads="1"/>
          </p:cNvSpPr>
          <p:nvPr userDrawn="1"/>
        </p:nvSpPr>
        <p:spPr bwMode="auto">
          <a:xfrm>
            <a:off x="10156563" y="6477000"/>
            <a:ext cx="101798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GB" altLang="da-DK" sz="900"/>
              <a:t>01/06/2018</a:t>
            </a:r>
            <a:endParaRPr lang="da-DK" altLang="da-DK" sz="90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6399968" y="6477000"/>
            <a:ext cx="365500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da-DK" altLang="da-DK" sz="900"/>
              <a:t>Heating systems in dwellings</a:t>
            </a:r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812694" y="6477000"/>
            <a:ext cx="40634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fld id="{B1456AA2-CE4E-48AF-8349-909CA6F24395}" type="slidenum">
              <a:rPr lang="da-DK" altLang="da-DK" sz="900"/>
              <a:pPr>
                <a:spcBef>
                  <a:spcPct val="0"/>
                </a:spcBef>
              </a:pPr>
              <a:t>‹#›</a:t>
            </a:fld>
            <a:endParaRPr lang="da-DK" altLang="da-DK" sz="900"/>
          </a:p>
        </p:txBody>
      </p:sp>
      <p:sp>
        <p:nvSpPr>
          <p:cNvPr id="1032" name="Rectangle 14"/>
          <p:cNvSpPr>
            <a:spLocks noChangeArrowheads="1"/>
          </p:cNvSpPr>
          <p:nvPr userDrawn="1"/>
        </p:nvSpPr>
        <p:spPr bwMode="auto">
          <a:xfrm>
            <a:off x="1318513" y="6477000"/>
            <a:ext cx="4922726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GB" altLang="da-DK" sz="900" b="1"/>
              <a:t>DTU Civil Engineering, Technical University of Denmark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88913" indent="-188913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95263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2pPr>
      <a:lvl3pPr marL="127952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98625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Venting hatches without draught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Passive cooling, lecture 2 of 4  ·  Assignment 4, part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ventilative cooling needs hatches</a:t>
            </a:r>
          </a:p>
          <a:p>
            <a:pPr/>
            <a:r>
              <a:t>Hatch types and requirements</a:t>
            </a:r>
          </a:p>
          <a:p>
            <a:pPr/>
            <a:r>
              <a:t>Jet theory: ceiling jet and floor flow</a:t>
            </a:r>
          </a:p>
          <a:p>
            <a:pPr/>
            <a:r>
              <a:t>Draught criteria: ISO 7730 DR and ASHRAE 55 ankle draught</a:t>
            </a:r>
          </a:p>
          <a:p>
            <a:pPr/>
            <a:r>
              <a:t>From a draught limit to an ACH limit</a:t>
            </a:r>
          </a:p>
          <a:p>
            <a:pPr/>
            <a:r>
              <a:t>Ventilative cooling in IDA ICE, limited by draught</a:t>
            </a:r>
          </a:p>
          <a:p>
            <a:pPr/>
            <a:r>
              <a:t>Assignment part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in the cooling assignment</a:t>
            </a:r>
          </a:p>
        </p:txBody>
      </p:sp>
      <p:sp>
        <p:nvSpPr>
          <p:cNvPr id="3" name="Part 1"/>
          <p:cNvSpPr/>
          <p:nvPr/>
        </p:nvSpPr>
        <p:spPr>
          <a:xfrm>
            <a:off x="1774726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1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Window size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AutoMOO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08509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t 2"/>
          <p:cNvSpPr/>
          <p:nvPr/>
        </p:nvSpPr>
        <p:spPr>
          <a:xfrm>
            <a:off x="4182829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65709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Part 2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</a:rPr>
              <a:t>Venting hatch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jet theory, draught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16612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t 3"/>
          <p:cNvSpPr/>
          <p:nvPr/>
        </p:nvSpPr>
        <p:spPr>
          <a:xfrm>
            <a:off x="6590932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73812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3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Ceiling fans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peak periods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4715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t 4"/>
          <p:cNvSpPr/>
          <p:nvPr/>
        </p:nvSpPr>
        <p:spPr>
          <a:xfrm>
            <a:off x="8999035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81915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4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Shutters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heat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840480"/>
            <a:ext cx="931237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Step 3 of the cooling strategy: remove heat with outdoor air, without draught.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Carry your north and south windows from part 1 into the whole-house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hatches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Ventilative cooling needs large airflows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450629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Cooling P = ṁ · cp · ΔT: a small summer ΔT needs 4–10 ACH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The risk is not the hot afternoon but the evening, night and shoulder season, when outdoor air is 8–12 K below the room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Fixed frameless windows need a separate opening: the hatch</a:t>
            </a:r>
          </a:p>
        </p:txBody>
      </p:sp>
      <p:pic>
        <p:nvPicPr>
          <p:cNvPr id="4" name="Picture 3" descr="ventilation-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675" y="2735434"/>
            <a:ext cx="5587425" cy="2502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Hatch types: where does the cold air go?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921244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High, bottom-hung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259206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Air attaches to the ceiling as a wall jet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Mixes before it reaches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0290" y="1709928"/>
            <a:ext cx="2921244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34882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Low opening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4882" y="2331720"/>
            <a:ext cx="259206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Cold air spreads along the floor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Highest draught risk at the ankles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854" y="1709928"/>
            <a:ext cx="2921244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0446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Side-hung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446" y="2331720"/>
            <a:ext cx="259206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Thermal jet that drops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Treat as a low opening with a larger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4726" y="420624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62626"/>
                </a:solidFill>
              </a:rPr>
              <a:t>Every hatch 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4726" y="4617720"/>
            <a:ext cx="447330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Keep out rain and burglars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Allow night opening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Add little heat loss when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13" y="4617720"/>
            <a:ext cx="465618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Fire escape if it replaces a window: width &gt; 0.5 m, height &gt; 0.6 m, width + height &gt; 1.5 m, sill ≤ 1.2 m (BR18)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closed hatch must insulate like a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170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4726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Gas-filled foam (λ 0.020) for U = 0.12 W/m²K, as two panels (120 + 45 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0290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60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290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Vacuum panel (λ 0.007) for the same U, at about 25 × the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854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0.07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5854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W/m²K for a hatch integrated in a prefab facade (2D Comsol), Ψ = 0.005 W/mK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4726" y="3840480"/>
            <a:ext cx="931237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1" i="0">
                <a:solidFill>
                  <a:srgbClr val="262626"/>
                </a:solidFill>
              </a:rPr>
              <a:t>In IDA ICE (Q2.2)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Model the hatch as a window with frame fraction 0.999 and frame U = hatch U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Report the house's mean U-value and heating demand before and 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Jet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hatch: a ceiling wall jet, if it stays up</a:t>
            </a:r>
          </a:p>
        </p:txBody>
      </p:sp>
      <p:pic>
        <p:nvPicPr>
          <p:cNvPr id="3" name="Picture 2" descr="ceiling-jet-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294" y="2316461"/>
            <a:ext cx="5121806" cy="33406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774726" y="1709928"/>
            <a:ext cx="3916248" cy="91440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957606" y="1801368"/>
            <a:ext cx="35504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Max. jet speed, Ka ≈ 7, x₀ ≈ −2 m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62626"/>
                </a:solidFill>
                <a:latin typeface="Cambria"/>
              </a:rPr>
              <a:t>u_m = K_a · U₀ · √a₀ / (x + x₀)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4726" y="2852928"/>
            <a:ext cx="391624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U₀ = q₀ / a₀: same airflow through a larger opening gives a slower jet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Conservative: take the speed where the jet turns down at the opposite wall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Large ΔT and weak driving force: the cold jet drops off the ceiling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Argue with Ar = g β ΔT h₀ / U₀²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opening: cold air spreads along the floor</a:t>
            </a:r>
          </a:p>
        </p:txBody>
      </p:sp>
      <p:pic>
        <p:nvPicPr>
          <p:cNvPr id="3" name="Picture 2" descr="bugenings-floo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726" y="2257201"/>
            <a:ext cx="9312374" cy="3047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4726" y="589788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E6E6E"/>
                </a:solidFill>
              </a:rPr>
              <a:t>Bugenings et al. (2025) louvre data, K fitted to 4.4 1/m. Figure from cooling/drafts/flow-element.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opening: the floor flow element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4656187" cy="91440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1801368"/>
            <a:ext cx="42904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Nielsen et al. (2000), radial floor flow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62626"/>
                </a:solidFill>
                <a:latin typeface="Cambria"/>
              </a:rPr>
              <a:t>u(x) = K · q₀ /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4726" y="2898648"/>
            <a:ext cx="465618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K ≈ 4–5 1/m near isothermal (4.4 fitted to the Bugenings louvre)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K up to about 10 1/m with a large ΔT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Evaluate at 0.1 m above the floor, 1 m from the wall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q₀ in m³/s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9655" y="1709928"/>
            <a:ext cx="4097444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54247" y="1874520"/>
            <a:ext cx="37682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90000"/>
                </a:solidFill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4247" y="2331720"/>
            <a:ext cx="376826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40 m³ zone at 5 ACH: q₀ = 0.056 m³/s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K = 4.4 1/m gives u = 0.24 m/s at 1 m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K = 10 1/m gives 0.56 m/s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windows in the Aalborg lab</a:t>
            </a:r>
          </a:p>
        </p:txBody>
      </p:sp>
      <p:pic>
        <p:nvPicPr>
          <p:cNvPr id="3" name="Picture 2" descr="window-types-heiselbe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726" y="2006623"/>
            <a:ext cx="9312374" cy="35488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4726" y="589788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E6E6E"/>
                </a:solidFill>
              </a:rPr>
              <a:t>After Heiselberg et al. (1999). Test room 8 × 6 × 3 m; the windows sit in an insulated wall to a cooled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cold air lands depends on the window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4519027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41898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Single-sided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4189843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Types 1 and 2: air reaches the floor 0.5–1.5 m from the window and spreads as a stratified layer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Even small openings give high velocities in the occupied zone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 3: little air at small angles; it runs down the wall and only reaches the floor at large angles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68073" y="1709928"/>
            <a:ext cx="4519027" cy="2926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32665" y="1874520"/>
            <a:ext cx="41898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Cross and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2665" y="2331720"/>
            <a:ext cx="4189843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Types 1 and 2: a thermal jet that reaches the floor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 3, bottom-hung opening in: ceiling jet that separates furthest from the wall, so the lowest velocities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 3, top-hung opening in: free jet into the occupied zone, very high velocities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4726" y="4892040"/>
            <a:ext cx="93123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2626"/>
                </a:solidFill>
              </a:rPr>
              <a:t>Design consequence: </a:t>
            </a:r>
            <a:r>
              <a:rPr sz="1700" b="0" i="0">
                <a:solidFill>
                  <a:srgbClr val="262626"/>
                </a:solidFill>
              </a:rPr>
              <a:t>throw the cold air upwards, above the occupied zone, and let it mix before it falls.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discharge coefficient is not a constant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4656187" cy="91440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1801368"/>
            <a:ext cx="42904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Orifice equation for an opening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62626"/>
                </a:solidFill>
                <a:latin typeface="Cambria"/>
              </a:rPr>
              <a:t>q = C_d · A · √(2Δp / 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4726" y="2944368"/>
            <a:ext cx="512180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Measured for the side-hung window (type 1)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Isothermal: Cd does not depend on Δp, but does depend on the opening area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With a temperature difference: Cd is a function of the Archimedes number and the opening area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Cd above 1 at small angles: the geometric opening area is hard to define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2150" y="1709928"/>
            <a:ext cx="3724949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26742" y="1874520"/>
            <a:ext cx="339576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90000"/>
                </a:solidFill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6742" y="2331720"/>
            <a:ext cx="339576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A constant Cd, such as IDA ICE's default 0.65, can give serious errors in the predicted airflow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Check your hatch airflow by hand (Q2.8)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side-hung window as a flow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990000"/>
                </a:solidFill>
              </a:rPr>
              <a:t>0.81 × 1.38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4726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Side-hung window, sill 1 m above the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0290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990000"/>
                </a:solidFill>
              </a:rPr>
              <a:t>0.04 / 0.10 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290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Opening area a₀ at 5° and 15°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854" y="1709928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990000"/>
                </a:solidFill>
              </a:rPr>
              <a:t>4–20 1/m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5854" y="2487168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K_w, rising with Ar′ and a₀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4726" y="3429000"/>
            <a:ext cx="4656187" cy="91440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57606" y="3520440"/>
            <a:ext cx="42904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Max. floor velocity, measured slope −1.0 in log-log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62626"/>
                </a:solidFill>
                <a:latin typeface="Cambria"/>
              </a:rPr>
              <a:t>u_x = K_w · q₀ / (x + x₀)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531" y="3429000"/>
            <a:ext cx="419056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The cold air drops as a thermal jet, then spreads radially along the floor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x₀ is negative: the virtual origin lies in front of the window, down to about −3 m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An opening with K ≈ 5 1/m and small x₀ would cut occupied-zone velocities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height decides where the cold air goes</a:t>
            </a:r>
          </a:p>
        </p:txBody>
      </p:sp>
      <p:pic>
        <p:nvPicPr>
          <p:cNvPr id="3" name="Picture 2" descr="compare-open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277" y="1709928"/>
            <a:ext cx="6713272" cy="4142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4726" y="589788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E6E6E"/>
                </a:solidFill>
              </a:rPr>
              <a:t>Course 2D CFD model (room_cfd.py), 6 ACH, gains set for a well-mixed 26 °C. Teaching model, not mesh-converged.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Draught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judge draught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4519027" cy="100584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1801368"/>
            <a:ext cx="415326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ISO 7730 draught rate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262626"/>
                </a:solidFill>
                <a:latin typeface="Cambria"/>
              </a:rPr>
              <a:t>DR = (34 − tₐ)(v − 0.05)^0.62 (0.37 v Tu + 3.14)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4726" y="2944368"/>
            <a:ext cx="45190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Tu = 40 % if unknown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DR ≤ 20 % is acceptable (category II)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Local air temperature and speed at the ankle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No 'feet factor': use DR as it stands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68073" y="1709928"/>
            <a:ext cx="4519027" cy="100584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50953" y="1801368"/>
            <a:ext cx="415326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ASHRAE 55-2020 ankle draught (Liu et al. 2017)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62626"/>
                </a:solidFill>
                <a:latin typeface="Cambria"/>
              </a:rPr>
              <a:t>PPD_AD = 100 · eᶻ / (1 + eᶻ),  z = −2.58 + 3.05 v − 1.06 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8073" y="2944368"/>
            <a:ext cx="45190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Limit PPD_AD ≤ 20 %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Equals v_ankle &lt; 0.35 TS + 0.39 m/s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TS = whole-body thermal sensation: a cool body tolerates less air speed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 draught limit to an ACH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078134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Low opening, 40 m³ zone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DR 20 % at 26 °C reached at about 5 ACH with K = 4.4, about 2 ACH with K = 10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Ankle model at TS = 0: about 8 and 3.5 ACH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Repeat for your hatch and plot max. ACH against ΔT (Q2.4)</a:t>
            </a:r>
          </a:p>
        </p:txBody>
      </p:sp>
      <p:pic>
        <p:nvPicPr>
          <p:cNvPr id="4" name="Picture 3" descr="floor-speed-vs-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180" y="2723247"/>
            <a:ext cx="5959920" cy="25270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Ventilative cooling in IDA 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runs, one limit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Q2.5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cross-ventilation through hatches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3363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94259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03987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Q2.6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add stack via roof skylight, PI on critical zone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2896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3792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23520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Q2.7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cap ACH at your draught limit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2429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33325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3053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Q2.8 (optional)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hand calc. vs IDA ICE airflow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291840"/>
            <a:ext cx="931237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1" i="0">
                <a:solidFill>
                  <a:srgbClr val="262626"/>
                </a:solidFill>
              </a:rPr>
              <a:t>IDA ICE hints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Hourly airflow per opening is in the zone results; convert to ACH with the zone volume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Limit with the max. opening fraction, or a limiter on the opening signal that depends on outdoor temperature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Check afterwards that the peak ACH stays under your limit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hatch control and ACH limiter in IDA ICE</a:t>
            </a:r>
          </a:p>
        </p:txBody>
      </p:sp>
      <p:sp>
        <p:nvSpPr>
          <p:cNvPr id="3" name="To develop"/>
          <p:cNvSpPr/>
          <p:nvPr/>
        </p:nvSpPr>
        <p:spPr>
          <a:xfrm>
            <a:off x="1774726" y="1709928"/>
            <a:ext cx="9312374" cy="4370832"/>
          </a:xfrm>
          <a:prstGeom prst="rect">
            <a:avLst/>
          </a:prstGeom>
          <a:noFill/>
          <a:ln w="19050">
            <a:solidFill>
              <a:srgbClr val="6E6E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03326" y="1892808"/>
            <a:ext cx="885517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990000"/>
                </a:solidFill>
              </a:rPr>
              <a:t>TO DEVELOP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Screenshots: hatch as a window object, opening control macro, skylight PI controller on the critical zone.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How to read 'Air flow through openings' and convert to ACH.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Optional: compare jet theory with the IDA ICE flow element for one evening hour.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9312374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626"/>
                </a:solidFill>
              </a:rPr>
              <a:t>Hand in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Hatch cross section with dimensions, free area and Cd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Hatch U-value and heating penalty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Jet calculation for 2 K and 10 K, with the work shown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ACH-limit chart against ΔT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Hours above adaptive category II for Q2.5–Q2.7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DTU Civil Engineering">
  <a:themeElements>
    <a:clrScheme name="DTU Civil Engineering 13">
      <a:dk1>
        <a:srgbClr val="000000"/>
      </a:dk1>
      <a:lt1>
        <a:srgbClr val="FFFFFF"/>
      </a:lt1>
      <a:dk2>
        <a:srgbClr val="990000"/>
      </a:dk2>
      <a:lt2>
        <a:srgbClr val="999999"/>
      </a:lt2>
      <a:accent1>
        <a:srgbClr val="FF9900"/>
      </a:accent1>
      <a:accent2>
        <a:srgbClr val="FF66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5C00"/>
      </a:accent6>
      <a:hlink>
        <a:srgbClr val="FF0000"/>
      </a:hlink>
      <a:folHlink>
        <a:srgbClr val="990000"/>
      </a:folHlink>
    </a:clrScheme>
    <a:fontScheme name="DTU Civil Engineering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lnDef>
  </a:objectDefaults>
  <a:extraClrSchemeLst>
    <a:extraClrScheme>
      <a:clrScheme name="DTU Civil Eng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3">
        <a:dk1>
          <a:srgbClr val="000000"/>
        </a:dk1>
        <a:lt1>
          <a:srgbClr val="FFFFFF"/>
        </a:lt1>
        <a:dk2>
          <a:srgbClr val="990000"/>
        </a:dk2>
        <a:lt2>
          <a:srgbClr val="999999"/>
        </a:lt2>
        <a:accent1>
          <a:srgbClr val="FF9900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5C00"/>
        </a:accent6>
        <a:hlink>
          <a:srgbClr val="FF0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YuLtZURdK3xNkPTH0fbT1A=="},{"name":"PresentationTitle","value":"r/LsGLKaYCx5eFWDMe7G8Wrniink23TC/tGWLRdEGdc="}]}]]></TemplafyFormConfiguration>
</file>

<file path=customXml/item2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Props1.xml><?xml version="1.0" encoding="utf-8"?>
<ds:datastoreItem xmlns:ds="http://schemas.openxmlformats.org/officeDocument/2006/customXml" ds:itemID="{05DC2B94-7C1B-4C14-83B0-9CD2A82C27E0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56C8BFB2-A911-4310-9D4A-421D773FAFA6}">
  <ds:schemaRefs/>
</ds:datastoreItem>
</file>

<file path=customXml/itemProps5.xml><?xml version="1.0" encoding="utf-8"?>
<ds:datastoreItem xmlns:ds="http://schemas.openxmlformats.org/officeDocument/2006/customXml" ds:itemID="{F4C08C7F-F953-44DE-ACDE-930692BDDB0F}">
  <ds:schemaRefs/>
</ds:datastoreItem>
</file>

<file path=customXml/itemProps6.xml><?xml version="1.0" encoding="utf-8"?>
<ds:datastoreItem xmlns:ds="http://schemas.openxmlformats.org/officeDocument/2006/customXml" ds:itemID="{02E7CCCE-613B-4CED-B813-E473EA1E01B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16088</TotalTime>
  <Words>2502</Words>
  <Application>Microsoft Office PowerPoint</Application>
  <PresentationFormat>Custom</PresentationFormat>
  <Paragraphs>401</Paragraphs>
  <Slides>89</Slides>
  <Notes>1</Notes>
  <HiddenSlides>36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Arial</vt:lpstr>
      <vt:lpstr>Symbol</vt:lpstr>
      <vt:lpstr>Times New Roman</vt:lpstr>
      <vt:lpstr>Verdana</vt:lpstr>
      <vt:lpstr>Wingdings</vt:lpstr>
      <vt:lpstr>Blank</vt:lpstr>
      <vt:lpstr>DTU Civil Engineering</vt:lpstr>
      <vt:lpstr>Ligning</vt:lpstr>
      <vt:lpstr>Space heating systems for box buildings as ONZEB</vt:lpstr>
      <vt:lpstr>DHW tank</vt:lpstr>
      <vt:lpstr>PowerPoint Presentation</vt:lpstr>
      <vt:lpstr>Make a slide with LCC</vt:lpstr>
      <vt:lpstr>Improvements</vt:lpstr>
      <vt:lpstr>Agenda</vt:lpstr>
      <vt:lpstr>Floor heating systems</vt:lpstr>
      <vt:lpstr>Hydronic floor heating systems</vt:lpstr>
      <vt:lpstr>Types of floor heating system:  concrete slab or wood beam floor </vt:lpstr>
      <vt:lpstr>Light or heavy</vt:lpstr>
      <vt:lpstr>Floor heating installation </vt:lpstr>
      <vt:lpstr>Manifold distributes water horizontally What about vertically? </vt:lpstr>
      <vt:lpstr>Pipes </vt:lpstr>
      <vt:lpstr>PowerPoint Presentation</vt:lpstr>
      <vt:lpstr>Loops layouts to achieve even temperature distribution between supply and return</vt:lpstr>
      <vt:lpstr>Shunt controls supply temperature to manifold</vt:lpstr>
      <vt:lpstr>PowerPoint Presentation</vt:lpstr>
      <vt:lpstr>PowerPoint Presentation</vt:lpstr>
      <vt:lpstr>Short and long pipes needs balancing </vt:lpstr>
      <vt:lpstr>Pre-settings to ensure that long and short pipes have the correct massflow</vt:lpstr>
      <vt:lpstr>How important is balancing?  Potential reduction in supply temperature in apartment</vt:lpstr>
      <vt:lpstr>Digital twin of floor heating system  </vt:lpstr>
      <vt:lpstr>Heat transfer from surface to room using floor heating</vt:lpstr>
      <vt:lpstr>Thermal comfort of floor surface temperature</vt:lpstr>
      <vt:lpstr>Calculation of heat transfer coefficient according to EN15377-1 Annex C</vt:lpstr>
      <vt:lpstr>Heating capacity at a given surface temperature Required surface temperature at given heat output</vt:lpstr>
      <vt:lpstr>Heating capacity at a given surface temperature Required surface temperature at given heat output</vt:lpstr>
      <vt:lpstr>Heating capacity at a given surface temperature Required surface temperature at given heat output</vt:lpstr>
      <vt:lpstr>Control</vt:lpstr>
      <vt:lpstr>Pulse-width modulation (PWM) </vt:lpstr>
      <vt:lpstr>Alternative to active control: self-regulation</vt:lpstr>
      <vt:lpstr>Floor heating models in HEAT2 and in IDA ICE Real operation</vt:lpstr>
      <vt:lpstr> Temperature distribution with water temperatures of 40 C and 23 C</vt:lpstr>
      <vt:lpstr>Detailed 3D model of floor in COMSOL used for comparison with 1D model of IDA ICE</vt:lpstr>
      <vt:lpstr>PowerPoint Presentation</vt:lpstr>
      <vt:lpstr>PowerPoint Presentation</vt:lpstr>
      <vt:lpstr>PowerPoint Presentation</vt:lpstr>
      <vt:lpstr>Learnings</vt:lpstr>
      <vt:lpstr>Bathroom floor comfort heating with separate mixing loop</vt:lpstr>
      <vt:lpstr>PowerPoint Presentation</vt:lpstr>
      <vt:lpstr>Ground heat exchanger for floor cooling and preheating of supply air for ventilation</vt:lpstr>
      <vt:lpstr>Preheating supply air to prevent freezing Basic cooling in summer</vt:lpstr>
      <vt:lpstr>Preheating of supply air to prevent frost </vt:lpstr>
      <vt:lpstr>Floor cooling and air supply preheating</vt:lpstr>
      <vt:lpstr>Danfoss ventilation unit  </vt:lpstr>
      <vt:lpstr>Preheating and precooling by geothermal loop</vt:lpstr>
      <vt:lpstr>Pipe lengths </vt:lpstr>
      <vt:lpstr>Laying pipe </vt:lpstr>
      <vt:lpstr>Improved frost protection performance </vt:lpstr>
      <vt:lpstr>Heating solution costs</vt:lpstr>
      <vt:lpstr>A cheaper heating system in the row house? </vt:lpstr>
      <vt:lpstr>PowerPoint Presentation</vt:lpstr>
      <vt:lpstr>Cost of floor heating Central unit with control for 10 rooms 16 000 DKK</vt:lpstr>
      <vt:lpstr>Cost of floor heating Plates of EPS and alu + PEX pipe 350 DKK/m2 = 50 kDKK for 144 m2 house</vt:lpstr>
      <vt:lpstr>Direct electrical radiator and floor heating </vt:lpstr>
      <vt:lpstr>Cost of system for Domestic Hot Water, DHW</vt:lpstr>
      <vt:lpstr>Cost of electrical DHW tank 160 L: 6500 DKK </vt:lpstr>
      <vt:lpstr>Ventilation air handling unit with passive heat recovery </vt:lpstr>
      <vt:lpstr>   Nilan Compact P with ventilation + DHW by heat pump  Price: 60kDDK</vt:lpstr>
      <vt:lpstr>PowerPoint Presentation</vt:lpstr>
      <vt:lpstr>PowerPoint Presentation</vt:lpstr>
      <vt:lpstr>Heat pump air2water positive list</vt:lpstr>
      <vt:lpstr>Cost of system for ventilation, heating and DHW based on district heating</vt:lpstr>
      <vt:lpstr>Cost of system for air-heating and DHW based on compact unit Nilan Compact P</vt:lpstr>
      <vt:lpstr>Cost of ventilation and heating based on passive heat recovery and electrical DHW and direct electrical radiators</vt:lpstr>
      <vt:lpstr>Flexible tariffs and PEFs</vt:lpstr>
      <vt:lpstr>Tariffs </vt:lpstr>
      <vt:lpstr>Low, mid, high tariffs</vt:lpstr>
      <vt:lpstr>Primary energy factors - PEFs</vt:lpstr>
      <vt:lpstr>Time-varying electricity prices</vt:lpstr>
      <vt:lpstr>CO2 emission intensity – DK</vt:lpstr>
      <vt:lpstr>Flexible PEFs from CO2 emission intensity Daily average: 1.9</vt:lpstr>
      <vt:lpstr>PowerPoint Presentation</vt:lpstr>
      <vt:lpstr>PowerPoint Presentation</vt:lpstr>
      <vt:lpstr>PowerPoint Presentation</vt:lpstr>
      <vt:lpstr>PowerPoint Presentation</vt:lpstr>
      <vt:lpstr>Heat pump</vt:lpstr>
      <vt:lpstr>Division of systems into</vt:lpstr>
      <vt:lpstr>Plate heat exchanger</vt:lpstr>
      <vt:lpstr>https://www.youtube.com/watch?v=Jv5p7o-7Pms</vt:lpstr>
      <vt:lpstr>Plate heat exchangers for big applications</vt:lpstr>
      <vt:lpstr>PowerPoint Presentation</vt:lpstr>
      <vt:lpstr>PowerPoint Presentation</vt:lpstr>
      <vt:lpstr>Gaskedel</vt:lpstr>
      <vt:lpstr>Need for space heating? </vt:lpstr>
      <vt:lpstr>Medtag noget med low-temp fjenvarme med boosterpumpe. Se på Svend og Steffens arb</vt:lpstr>
      <vt:lpstr>Medtag noget mere om pex pipes, manifolde, hvordan vand systemer bygges idag</vt:lpstr>
      <vt:lpstr>Medtag Radiant floor from Weber</vt:lpstr>
      <vt:lpstr>Mixing plant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Venting hatches without draught</dc:title>
  <dc:creator>Christian Anker Hviid, DTU Construct</dc:creator>
  <cp:lastModifiedBy>Christian Anker Hviid</cp:lastModifiedBy>
  <cp:revision>46</cp:revision>
  <cp:lastPrinted>2021-10-25T10:33:58Z</cp:lastPrinted>
  <dcterms:created xsi:type="dcterms:W3CDTF">2021-10-19T14:45:00Z</dcterms:created>
  <dcterms:modified xsi:type="dcterms:W3CDTF">2026-10-07T20:32:02Z</dcterms:modified>
  <dc:subject>41463 High Performance Buildings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637950229595781733</vt:lpwstr>
  </property>
  <property fmtid="{D5CDD505-2E9C-101B-9397-08002B2CF9AE}" pid="6" name="TemplafyLanguageCode">
    <vt:lpwstr>en-GB</vt:lpwstr>
  </property>
</Properties>
</file>