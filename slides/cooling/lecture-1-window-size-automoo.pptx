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  <p:sldMasterId id="2147483648" r:id="rId8"/>
  </p:sldMasterIdLst>
  <p:notesMasterIdLst>
    <p:notesMasterId r:id="rId98"/>
  </p:notesMasterIdLst>
  <p:handoutMasterIdLst>
    <p:handoutMasterId r:id="rId9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12190413" cy="6858000"/>
  <p:notesSz cx="6858000" cy="9144000"/>
  <p:custDataLst>
    <p:tags r:id="rId10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6FDE3-94FD-4C10-8D4F-CBB43A879E3E}" v="6" dt="2026-10-07T20:30:4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8" autoAdjust="0"/>
    <p:restoredTop sz="96098" autoAdjust="0"/>
  </p:normalViewPr>
  <p:slideViewPr>
    <p:cSldViewPr showGuides="1">
      <p:cViewPr varScale="1">
        <p:scale>
          <a:sx n="94" d="100"/>
          <a:sy n="94" d="100"/>
        </p:scale>
        <p:origin x="90" y="3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slideMaster" Target="slideMasters/slideMaster1.xml"/><Relationship Id="rId8" Type="http://schemas.openxmlformats.org/officeDocument/2006/relationships/slideMaster" Target="slideMasters/slideMaster2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98" Type="http://schemas.openxmlformats.org/officeDocument/2006/relationships/notesMaster" Target="notesMasters/notesMaster1.xml"/><Relationship Id="rId99" Type="http://schemas.openxmlformats.org/officeDocument/2006/relationships/handoutMaster" Target="handoutMasters/handoutMaster1.xml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microsoft.com/office/2016/11/relationships/changesInfo" Target="changesInfos/changesInfo1.xml"/><Relationship Id="rId10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nker Hviid" userId="bae0bce0-65f9-439a-b9ea-9e02c6eefaa0" providerId="ADAL" clId="{3448FE47-1094-44DD-B9A2-7F65BCBFB61F}"/>
    <pc:docChg chg="undo custSel addSld delSld modSld sldOrd modMainMaster">
      <pc:chgData name="Christian Anker Hviid" userId="bae0bce0-65f9-439a-b9ea-9e02c6eefaa0" providerId="ADAL" clId="{3448FE47-1094-44DD-B9A2-7F65BCBFB61F}" dt="2026-10-07T20:31:55.564" v="2343" actId="20577"/>
      <pc:docMkLst>
        <pc:docMk/>
      </pc:docMkLst>
      <pc:sldChg chg="modSp new mod ord modShow">
        <pc:chgData name="Christian Anker Hviid" userId="bae0bce0-65f9-439a-b9ea-9e02c6eefaa0" providerId="ADAL" clId="{3448FE47-1094-44DD-B9A2-7F65BCBFB61F}" dt="2026-10-07T20:31:55.564" v="2343" actId="20577"/>
        <pc:sldMkLst>
          <pc:docMk/>
          <pc:sldMk cId="1600414983" sldId="398"/>
        </pc:sldMkLst>
        <pc:spChg chg="mod">
          <ac:chgData name="Christian Anker Hviid" userId="bae0bce0-65f9-439a-b9ea-9e02c6eefaa0" providerId="ADAL" clId="{3448FE47-1094-44DD-B9A2-7F65BCBFB61F}" dt="2026-10-07T20:21:04.850" v="1707" actId="20577"/>
          <ac:spMkLst>
            <pc:docMk/>
            <pc:sldMk cId="1600414983" sldId="398"/>
            <ac:spMk id="2" creationId="{58590A65-FE16-8C42-340F-8B327F3DF827}"/>
          </ac:spMkLst>
        </pc:spChg>
        <pc:spChg chg="mod">
          <ac:chgData name="Christian Anker Hviid" userId="bae0bce0-65f9-439a-b9ea-9e02c6eefaa0" providerId="ADAL" clId="{3448FE47-1094-44DD-B9A2-7F65BCBFB61F}" dt="2026-10-07T20:31:55.564" v="2343" actId="20577"/>
          <ac:spMkLst>
            <pc:docMk/>
            <pc:sldMk cId="1600414983" sldId="398"/>
            <ac:spMk id="3" creationId="{FB86305B-0C31-EC4A-02D7-57085DB041A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computed from the Annex 80 EPW files in the project folder (make_figures.py). Hours counted over the full year; May–Sep GHI summed from column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Glazing values from the Assignment 04 solution file and 'Advice for parametric run.pptx'. Fill in the U-values of the Suncool panes from the datasheet (keep U ≤ 0.6 W/m²K).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Hints taken from the assignment draft, part 1. See also 'How to - IDA ICE parametric daylight run.pdf' in the course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check only, not for the slides: facade chapter worked example gives south optimum g 0.32, 1.2 m overhang, 1.1 m window height, sDA 53 %, cooling 19.6 kWh/m² (−63 %); north 1.4 m, sDA 59 %, 15.1 kWh/m² (−27 %).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4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975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203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Construct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41463 HPB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Passive cooling 1: Window size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9" r:id="rId12"/>
    <p:sldLayoutId id="2147483680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694" y="304800"/>
            <a:ext cx="10361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694" y="1600200"/>
            <a:ext cx="10361851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text styles</a:t>
            </a:r>
          </a:p>
          <a:p>
            <a:pPr lvl="1"/>
            <a:r>
              <a:rPr lang="en-GB" altLang="da-DK"/>
              <a:t>Second level</a:t>
            </a:r>
          </a:p>
          <a:p>
            <a:pPr lvl="2"/>
            <a:r>
              <a:rPr lang="en-GB" altLang="da-DK"/>
              <a:t>Third level</a:t>
            </a:r>
          </a:p>
          <a:p>
            <a:pPr lvl="3"/>
            <a:r>
              <a:rPr lang="en-GB" altLang="da-DK"/>
              <a:t>Fourth level</a:t>
            </a:r>
          </a:p>
          <a:p>
            <a:pPr lvl="4"/>
            <a:r>
              <a:rPr lang="en-GB" altLang="da-DK"/>
              <a:t>Fifth level</a:t>
            </a:r>
          </a:p>
        </p:txBody>
      </p:sp>
      <p:pic>
        <p:nvPicPr>
          <p:cNvPr id="1028" name="Picture 9" descr="DTU-DK-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399" y="279400"/>
            <a:ext cx="6391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1"/>
          <p:cNvSpPr>
            <a:spLocks noChangeArrowheads="1"/>
          </p:cNvSpPr>
          <p:nvPr userDrawn="1"/>
        </p:nvSpPr>
        <p:spPr bwMode="auto">
          <a:xfrm>
            <a:off x="10156563" y="6477000"/>
            <a:ext cx="101798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GB" altLang="da-DK" sz="900"/>
              <a:t>01/06/2018</a:t>
            </a:r>
            <a:endParaRPr lang="da-DK" altLang="da-DK" sz="90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6399968" y="6477000"/>
            <a:ext cx="365500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da-DK" altLang="da-DK" sz="900"/>
              <a:t>Heating systems in dwellings</a:t>
            </a:r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812694" y="6477000"/>
            <a:ext cx="40634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fld id="{B1456AA2-CE4E-48AF-8349-909CA6F24395}" type="slidenum">
              <a:rPr lang="da-DK" altLang="da-DK" sz="900"/>
              <a:pPr>
                <a:spcBef>
                  <a:spcPct val="0"/>
                </a:spcBef>
              </a:pPr>
              <a:t>‹#›</a:t>
            </a:fld>
            <a:endParaRPr lang="da-DK" altLang="da-DK" sz="900"/>
          </a:p>
        </p:txBody>
      </p:sp>
      <p:sp>
        <p:nvSpPr>
          <p:cNvPr id="1032" name="Rectangle 14"/>
          <p:cNvSpPr>
            <a:spLocks noChangeArrowheads="1"/>
          </p:cNvSpPr>
          <p:nvPr userDrawn="1"/>
        </p:nvSpPr>
        <p:spPr bwMode="auto">
          <a:xfrm>
            <a:off x="1318513" y="6477000"/>
            <a:ext cx="4922726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GB" altLang="da-DK" sz="900" b="1"/>
              <a:t>DTU Civil Engineering, Technical University of Denmark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88913" indent="-188913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95263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2pPr>
      <a:lvl3pPr marL="127952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98625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Window size: optimising the facade with AutoMOO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Passive cooling, lecture 1 of 4  ·  Assignment 4, part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window size is a cooling question</a:t>
            </a:r>
          </a:p>
          <a:p>
            <a:pPr/>
            <a:r>
              <a:t>The design summer: Annex 80 Copenhagen 2041–2060</a:t>
            </a:r>
          </a:p>
          <a:p>
            <a:pPr/>
            <a:r>
              <a:t>Daylight as a constraint: EN 17037 sDA</a:t>
            </a:r>
          </a:p>
          <a:p>
            <a:pPr/>
            <a:r>
              <a:t>Multi-objective optimisation and the Pareto front</a:t>
            </a:r>
          </a:p>
          <a:p>
            <a:pPr/>
            <a:r>
              <a:t>Setting up AutoMOO in IDA ICE</a:t>
            </a:r>
          </a:p>
          <a:p>
            <a:pPr/>
            <a:r>
              <a:t>Assignment part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in the cooling assignment</a:t>
            </a:r>
          </a:p>
        </p:txBody>
      </p:sp>
      <p:sp>
        <p:nvSpPr>
          <p:cNvPr id="3" name="Part 1"/>
          <p:cNvSpPr/>
          <p:nvPr/>
        </p:nvSpPr>
        <p:spPr>
          <a:xfrm>
            <a:off x="1774726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Part 1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</a:rPr>
              <a:t>Window size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AutoMOO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08509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t 2"/>
          <p:cNvSpPr/>
          <p:nvPr/>
        </p:nvSpPr>
        <p:spPr>
          <a:xfrm>
            <a:off x="4182829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65709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2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Venting hatch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jet theory, draught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16612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t 3"/>
          <p:cNvSpPr/>
          <p:nvPr/>
        </p:nvSpPr>
        <p:spPr>
          <a:xfrm>
            <a:off x="6590932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73812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3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Ceiling fans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peak periods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4715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t 4"/>
          <p:cNvSpPr/>
          <p:nvPr/>
        </p:nvSpPr>
        <p:spPr>
          <a:xfrm>
            <a:off x="8999035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81915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4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Shutters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heat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840480"/>
            <a:ext cx="931237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Step 1 of the cooling strategy: reduce solar gains while keeping daylight and view out.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Each part builds on the model from the previous part. Keep one IDA ICE file per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window size is a cooling question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2050 typical year is the design summer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636877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Parts 1–3 use 5A_Copenhagen_TMY_2041-2060.epw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82 h above 26 °C outdoors, against 20 h in 2001–2020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2041–60 has more summer sun than 2081–2100 (686 vs 641 kWh/m²), so it is the more critical file for solar gains</a:t>
            </a:r>
          </a:p>
        </p:txBody>
      </p:sp>
      <p:pic>
        <p:nvPicPr>
          <p:cNvPr id="4" name="Picture 3" descr="annex80-typical-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923" y="2811066"/>
            <a:ext cx="5401177" cy="2351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window trades daylight and winter sun against summer heat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921244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Solar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259206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Scales with window area × g-value × irradiance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Drives cooling demand and overheating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0290" y="1709928"/>
            <a:ext cx="2921244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34882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Daylight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4882" y="2331720"/>
            <a:ext cx="259206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Scales with window area × light transmittance LT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Constraint: sDA300,50% ≥ 50 % (EN 17037)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854" y="1709928"/>
            <a:ext cx="2921244" cy="2377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0446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Heating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446" y="2331720"/>
            <a:ext cx="259206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A window loses more heat than the wall it replaces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but collects winter sun on the south facade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4726" y="4343400"/>
            <a:ext cx="93123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62626"/>
                </a:solidFill>
              </a:rPr>
              <a:t>Glazings in the course model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74726" y="4754880"/>
          <a:ext cx="931237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4949"/>
                <a:gridCol w="1396856"/>
                <a:gridCol w="1396856"/>
                <a:gridCol w="1396856"/>
                <a:gridCol w="139685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Glazing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 (W/m²K)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LT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Selectivity LT/g</a:t>
                      </a:r>
                    </a:p>
                  </a:txBody>
                  <a:tcPr marL="73152" marR="73152">
                    <a:solidFill>
                      <a:srgbClr val="99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Pilkington S3 (reference)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0.49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0.71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1.4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Suncool 70/35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0.34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0.63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1.9</a:t>
                      </a:r>
                    </a:p>
                  </a:txBody>
                  <a:tcPr marL="73152" marR="7315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Suncool 66/33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0.32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0.59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1.8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Multi-objective optimisation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Pareto front shows the best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916248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Two objectives: minimise cooling demand and heating demand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One constraint: sDA300 ≥ 50 %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A design is dominated if another design is better on both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The front is the set of non-dominated designs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You choose on the front, using what the model leaves out: view, glare, cost, the other rooms</a:t>
            </a:r>
          </a:p>
        </p:txBody>
      </p:sp>
      <p:pic>
        <p:nvPicPr>
          <p:cNvPr id="4" name="Picture 3" descr="pareto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294" y="1778706"/>
            <a:ext cx="5121806" cy="4416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AutoMOO in IDA 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Variables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window height and width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99456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0352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20080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IDA ICE runs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genetic algorithm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35082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45978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55706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Objectives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min cooling, min heating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70708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1604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91332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Constraint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sDA300 ≥ 50 %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06334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17230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26958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Pareto front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pick a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74726" y="3200400"/>
            <a:ext cx="292124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939318" y="3364992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9318" y="3822192"/>
            <a:ext cx="25920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Window height, sill at 0.9 m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Window width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Optional: glazing type, overhang depth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Whole range must fit in the wall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0290" y="3200400"/>
            <a:ext cx="292124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34882" y="3364992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4882" y="3822192"/>
            <a:ext cx="25920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Type: custom + climate-based daylight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Keep generated models: yes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Set each output's role: objective or constraint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854" y="3200400"/>
            <a:ext cx="2921244" cy="2834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30446" y="3364992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Keep it fast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446" y="3822192"/>
            <a:ext cx="25920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Relax the tolerance, set a max. time step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Limit the outputs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Test with a few runs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AutoMOO on the 4 × 4 m centre zone</a:t>
            </a:r>
          </a:p>
        </p:txBody>
      </p:sp>
      <p:sp>
        <p:nvSpPr>
          <p:cNvPr id="3" name="To develop"/>
          <p:cNvSpPr/>
          <p:nvPr/>
        </p:nvSpPr>
        <p:spPr>
          <a:xfrm>
            <a:off x="1774726" y="1709928"/>
            <a:ext cx="9312374" cy="4370832"/>
          </a:xfrm>
          <a:prstGeom prst="rect">
            <a:avLst/>
          </a:prstGeom>
          <a:noFill/>
          <a:ln w="19050">
            <a:solidFill>
              <a:srgbClr val="6E6E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03326" y="1892808"/>
            <a:ext cx="885517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990000"/>
                </a:solidFill>
              </a:rPr>
              <a:t>TO DEVELOP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Screenshots from IDA ICE: parametric run dialog, choosing AutoMOO, setting objective and constraint roles.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Pareto plot export and how to read the chosen design back into the model.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Single-zone model: 4 × 4 m, 2.5 m high, U = 0.1 W/m²K, facing north or south.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part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Q1.1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reference: sDA, cooling, heating, N and 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3363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94259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03987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Q1.2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AutoMOO study, Pareto front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2896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3792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23520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Q1.3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choose a design, repeat table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2429" y="224028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33325" y="1709928"/>
            <a:ext cx="2053773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3053" y="1783080"/>
            <a:ext cx="1834317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Q1.4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reflect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291840"/>
            <a:ext cx="931237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1" i="0">
                <a:solidFill>
                  <a:srgbClr val="262626"/>
                </a:solidFill>
              </a:rPr>
              <a:t>Hand in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Q1.1/Q1.3 table for north and south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Pareto figure with your chosen design marked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5–10 lines of reflection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to 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9312374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400"/>
              </a:spcAft>
              <a:buChar char="•"/>
            </a:pPr>
            <a:r>
              <a:rPr sz="2000" b="0" i="0">
                <a:solidFill>
                  <a:srgbClr val="262626"/>
                </a:solidFill>
              </a:rPr>
              <a:t>Why is the optimal south window smaller than the north one?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2000" b="0" i="0">
                <a:solidFill>
                  <a:srgbClr val="262626"/>
                </a:solidFill>
              </a:rPr>
              <a:t>What did the optimisation leave out: view out, glare, the other rooms, future weather, cost?</a:t>
            </a:r>
          </a:p>
          <a:p>
            <a:pPr algn="l" marL="228600" indent="-228600">
              <a:spcAft>
                <a:spcPts val="1400"/>
              </a:spcAft>
              <a:buChar char="•"/>
            </a:pPr>
            <a:r>
              <a:rPr sz="2000" b="0" i="0">
                <a:solidFill>
                  <a:srgbClr val="262626"/>
                </a:solidFill>
              </a:rPr>
              <a:t>Your window was optimised for the 2050 typical year. Would it change for the heat-wave year?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DTU Civil Engineering">
  <a:themeElements>
    <a:clrScheme name="DTU Civil Engineering 13">
      <a:dk1>
        <a:srgbClr val="000000"/>
      </a:dk1>
      <a:lt1>
        <a:srgbClr val="FFFFFF"/>
      </a:lt1>
      <a:dk2>
        <a:srgbClr val="990000"/>
      </a:dk2>
      <a:lt2>
        <a:srgbClr val="999999"/>
      </a:lt2>
      <a:accent1>
        <a:srgbClr val="FF9900"/>
      </a:accent1>
      <a:accent2>
        <a:srgbClr val="FF66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5C00"/>
      </a:accent6>
      <a:hlink>
        <a:srgbClr val="FF0000"/>
      </a:hlink>
      <a:folHlink>
        <a:srgbClr val="990000"/>
      </a:folHlink>
    </a:clrScheme>
    <a:fontScheme name="DTU Civil Engineering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lnDef>
  </a:objectDefaults>
  <a:extraClrSchemeLst>
    <a:extraClrScheme>
      <a:clrScheme name="DTU Civil Eng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3">
        <a:dk1>
          <a:srgbClr val="000000"/>
        </a:dk1>
        <a:lt1>
          <a:srgbClr val="FFFFFF"/>
        </a:lt1>
        <a:dk2>
          <a:srgbClr val="990000"/>
        </a:dk2>
        <a:lt2>
          <a:srgbClr val="999999"/>
        </a:lt2>
        <a:accent1>
          <a:srgbClr val="FF9900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5C00"/>
        </a:accent6>
        <a:hlink>
          <a:srgbClr val="FF0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YuLtZURdK3xNkPTH0fbT1A=="},{"name":"PresentationTitle","value":"r/LsGLKaYCx5eFWDMe7G8Wrniink23TC/tGWLRdEGdc="}]}]]></TemplafyFormConfiguration>
</file>

<file path=customXml/item2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Props1.xml><?xml version="1.0" encoding="utf-8"?>
<ds:datastoreItem xmlns:ds="http://schemas.openxmlformats.org/officeDocument/2006/customXml" ds:itemID="{05DC2B94-7C1B-4C14-83B0-9CD2A82C27E0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56C8BFB2-A911-4310-9D4A-421D773FAFA6}">
  <ds:schemaRefs/>
</ds:datastoreItem>
</file>

<file path=customXml/itemProps5.xml><?xml version="1.0" encoding="utf-8"?>
<ds:datastoreItem xmlns:ds="http://schemas.openxmlformats.org/officeDocument/2006/customXml" ds:itemID="{F4C08C7F-F953-44DE-ACDE-930692BDDB0F}">
  <ds:schemaRefs/>
</ds:datastoreItem>
</file>

<file path=customXml/itemProps6.xml><?xml version="1.0" encoding="utf-8"?>
<ds:datastoreItem xmlns:ds="http://schemas.openxmlformats.org/officeDocument/2006/customXml" ds:itemID="{02E7CCCE-613B-4CED-B813-E473EA1E01B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16088</TotalTime>
  <Words>2502</Words>
  <Application>Microsoft Office PowerPoint</Application>
  <PresentationFormat>Custom</PresentationFormat>
  <Paragraphs>401</Paragraphs>
  <Slides>89</Slides>
  <Notes>1</Notes>
  <HiddenSlides>36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Arial</vt:lpstr>
      <vt:lpstr>Symbol</vt:lpstr>
      <vt:lpstr>Times New Roman</vt:lpstr>
      <vt:lpstr>Verdana</vt:lpstr>
      <vt:lpstr>Wingdings</vt:lpstr>
      <vt:lpstr>Blank</vt:lpstr>
      <vt:lpstr>DTU Civil Engineering</vt:lpstr>
      <vt:lpstr>Ligning</vt:lpstr>
      <vt:lpstr>Space heating systems for box buildings as ONZEB</vt:lpstr>
      <vt:lpstr>DHW tank</vt:lpstr>
      <vt:lpstr>PowerPoint Presentation</vt:lpstr>
      <vt:lpstr>Make a slide with LCC</vt:lpstr>
      <vt:lpstr>Improvements</vt:lpstr>
      <vt:lpstr>Agenda</vt:lpstr>
      <vt:lpstr>Floor heating systems</vt:lpstr>
      <vt:lpstr>Hydronic floor heating systems</vt:lpstr>
      <vt:lpstr>Types of floor heating system:  concrete slab or wood beam floor </vt:lpstr>
      <vt:lpstr>Light or heavy</vt:lpstr>
      <vt:lpstr>Floor heating installation </vt:lpstr>
      <vt:lpstr>Manifold distributes water horizontally What about vertically? </vt:lpstr>
      <vt:lpstr>Pipes </vt:lpstr>
      <vt:lpstr>PowerPoint Presentation</vt:lpstr>
      <vt:lpstr>Loops layouts to achieve even temperature distribution between supply and return</vt:lpstr>
      <vt:lpstr>Shunt controls supply temperature to manifold</vt:lpstr>
      <vt:lpstr>PowerPoint Presentation</vt:lpstr>
      <vt:lpstr>PowerPoint Presentation</vt:lpstr>
      <vt:lpstr>Short and long pipes needs balancing </vt:lpstr>
      <vt:lpstr>Pre-settings to ensure that long and short pipes have the correct massflow</vt:lpstr>
      <vt:lpstr>How important is balancing?  Potential reduction in supply temperature in apartment</vt:lpstr>
      <vt:lpstr>Digital twin of floor heating system  </vt:lpstr>
      <vt:lpstr>Heat transfer from surface to room using floor heating</vt:lpstr>
      <vt:lpstr>Thermal comfort of floor surface temperature</vt:lpstr>
      <vt:lpstr>Calculation of heat transfer coefficient according to EN15377-1 Annex C</vt:lpstr>
      <vt:lpstr>Heating capacity at a given surface temperature Required surface temperature at given heat output</vt:lpstr>
      <vt:lpstr>Heating capacity at a given surface temperature Required surface temperature at given heat output</vt:lpstr>
      <vt:lpstr>Heating capacity at a given surface temperature Required surface temperature at given heat output</vt:lpstr>
      <vt:lpstr>Control</vt:lpstr>
      <vt:lpstr>Pulse-width modulation (PWM) </vt:lpstr>
      <vt:lpstr>Alternative to active control: self-regulation</vt:lpstr>
      <vt:lpstr>Floor heating models in HEAT2 and in IDA ICE Real operation</vt:lpstr>
      <vt:lpstr> Temperature distribution with water temperatures of 40 C and 23 C</vt:lpstr>
      <vt:lpstr>Detailed 3D model of floor in COMSOL used for comparison with 1D model of IDA ICE</vt:lpstr>
      <vt:lpstr>PowerPoint Presentation</vt:lpstr>
      <vt:lpstr>PowerPoint Presentation</vt:lpstr>
      <vt:lpstr>PowerPoint Presentation</vt:lpstr>
      <vt:lpstr>Learnings</vt:lpstr>
      <vt:lpstr>Bathroom floor comfort heating with separate mixing loop</vt:lpstr>
      <vt:lpstr>PowerPoint Presentation</vt:lpstr>
      <vt:lpstr>Ground heat exchanger for floor cooling and preheating of supply air for ventilation</vt:lpstr>
      <vt:lpstr>Preheating supply air to prevent freezing Basic cooling in summer</vt:lpstr>
      <vt:lpstr>Preheating of supply air to prevent frost </vt:lpstr>
      <vt:lpstr>Floor cooling and air supply preheating</vt:lpstr>
      <vt:lpstr>Danfoss ventilation unit  </vt:lpstr>
      <vt:lpstr>Preheating and precooling by geothermal loop</vt:lpstr>
      <vt:lpstr>Pipe lengths </vt:lpstr>
      <vt:lpstr>Laying pipe </vt:lpstr>
      <vt:lpstr>Improved frost protection performance </vt:lpstr>
      <vt:lpstr>Heating solution costs</vt:lpstr>
      <vt:lpstr>A cheaper heating system in the row house? </vt:lpstr>
      <vt:lpstr>PowerPoint Presentation</vt:lpstr>
      <vt:lpstr>Cost of floor heating Central unit with control for 10 rooms 16 000 DKK</vt:lpstr>
      <vt:lpstr>Cost of floor heating Plates of EPS and alu + PEX pipe 350 DKK/m2 = 50 kDKK for 144 m2 house</vt:lpstr>
      <vt:lpstr>Direct electrical radiator and floor heating </vt:lpstr>
      <vt:lpstr>Cost of system for Domestic Hot Water, DHW</vt:lpstr>
      <vt:lpstr>Cost of electrical DHW tank 160 L: 6500 DKK </vt:lpstr>
      <vt:lpstr>Ventilation air handling unit with passive heat recovery </vt:lpstr>
      <vt:lpstr>   Nilan Compact P with ventilation + DHW by heat pump  Price: 60kDDK</vt:lpstr>
      <vt:lpstr>PowerPoint Presentation</vt:lpstr>
      <vt:lpstr>PowerPoint Presentation</vt:lpstr>
      <vt:lpstr>Heat pump air2water positive list</vt:lpstr>
      <vt:lpstr>Cost of system for ventilation, heating and DHW based on district heating</vt:lpstr>
      <vt:lpstr>Cost of system for air-heating and DHW based on compact unit Nilan Compact P</vt:lpstr>
      <vt:lpstr>Cost of ventilation and heating based on passive heat recovery and electrical DHW and direct electrical radiators</vt:lpstr>
      <vt:lpstr>Flexible tariffs and PEFs</vt:lpstr>
      <vt:lpstr>Tariffs </vt:lpstr>
      <vt:lpstr>Low, mid, high tariffs</vt:lpstr>
      <vt:lpstr>Primary energy factors - PEFs</vt:lpstr>
      <vt:lpstr>Time-varying electricity prices</vt:lpstr>
      <vt:lpstr>CO2 emission intensity – DK</vt:lpstr>
      <vt:lpstr>Flexible PEFs from CO2 emission intensity Daily average: 1.9</vt:lpstr>
      <vt:lpstr>PowerPoint Presentation</vt:lpstr>
      <vt:lpstr>PowerPoint Presentation</vt:lpstr>
      <vt:lpstr>PowerPoint Presentation</vt:lpstr>
      <vt:lpstr>PowerPoint Presentation</vt:lpstr>
      <vt:lpstr>Heat pump</vt:lpstr>
      <vt:lpstr>Division of systems into</vt:lpstr>
      <vt:lpstr>Plate heat exchanger</vt:lpstr>
      <vt:lpstr>https://www.youtube.com/watch?v=Jv5p7o-7Pms</vt:lpstr>
      <vt:lpstr>Plate heat exchangers for big applications</vt:lpstr>
      <vt:lpstr>PowerPoint Presentation</vt:lpstr>
      <vt:lpstr>PowerPoint Presentation</vt:lpstr>
      <vt:lpstr>Gaskedel</vt:lpstr>
      <vt:lpstr>Need for space heating? </vt:lpstr>
      <vt:lpstr>Medtag noget med low-temp fjenvarme med boosterpumpe. Se på Svend og Steffens arb</vt:lpstr>
      <vt:lpstr>Medtag noget mere om pex pipes, manifolde, hvordan vand systemer bygges idag</vt:lpstr>
      <vt:lpstr>Medtag Radiant floor from Weber</vt:lpstr>
      <vt:lpstr>Mixing plant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size with IDA ICE AutoMOO</dc:title>
  <dc:creator>Christian Anker Hviid, DTU Construct</dc:creator>
  <cp:lastModifiedBy>Christian Anker Hviid</cp:lastModifiedBy>
  <cp:revision>46</cp:revision>
  <cp:lastPrinted>2021-10-25T10:33:58Z</cp:lastPrinted>
  <dcterms:created xsi:type="dcterms:W3CDTF">2021-10-19T14:45:00Z</dcterms:created>
  <dcterms:modified xsi:type="dcterms:W3CDTF">2026-10-07T20:32:02Z</dcterms:modified>
  <dc:subject>41463 High Performance Buildings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637950229595781733</vt:lpwstr>
  </property>
  <property fmtid="{D5CDD505-2E9C-101B-9397-08002B2CF9AE}" pid="6" name="TemplafyLanguageCode">
    <vt:lpwstr>en-GB</vt:lpwstr>
  </property>
</Properties>
</file>