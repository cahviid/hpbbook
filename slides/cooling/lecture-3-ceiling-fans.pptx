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7"/>
    <p:sldMasterId id="2147483648" r:id="rId8"/>
  </p:sldMasterIdLst>
  <p:notesMasterIdLst>
    <p:notesMasterId r:id="rId98"/>
  </p:notesMasterIdLst>
  <p:handoutMasterIdLst>
    <p:handoutMasterId r:id="rId99"/>
  </p:handout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</p:sldIdLst>
  <p:sldSz cx="12190413" cy="6858000"/>
  <p:notesSz cx="6858000" cy="9144000"/>
  <p:custDataLst>
    <p:tags r:id="rId100"/>
  </p:custDataLst>
  <p:defaultTextStyle>
    <a:defPPr>
      <a:defRPr lang="da-DK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90000"/>
    <a:srgbClr val="000000"/>
    <a:srgbClr val="FFCC00"/>
    <a:srgbClr val="FF6600"/>
    <a:srgbClr val="FF0000"/>
    <a:srgbClr val="FF0099"/>
    <a:srgbClr val="CC3399"/>
    <a:srgbClr val="660066"/>
    <a:srgbClr val="66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06FDE3-94FD-4C10-8D4F-CBB43A879E3E}" v="6" dt="2026-10-07T20:30:42.0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78" autoAdjust="0"/>
    <p:restoredTop sz="96098" autoAdjust="0"/>
  </p:normalViewPr>
  <p:slideViewPr>
    <p:cSldViewPr showGuides="1">
      <p:cViewPr varScale="1">
        <p:scale>
          <a:sx n="94" d="100"/>
          <a:sy n="94" d="100"/>
        </p:scale>
        <p:origin x="90" y="36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slideMaster" Target="slideMasters/slideMaster1.xml"/><Relationship Id="rId8" Type="http://schemas.openxmlformats.org/officeDocument/2006/relationships/slideMaster" Target="slideMasters/slideMaster2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98" Type="http://schemas.openxmlformats.org/officeDocument/2006/relationships/notesMaster" Target="notesMasters/notesMaster1.xml"/><Relationship Id="rId99" Type="http://schemas.openxmlformats.org/officeDocument/2006/relationships/handoutMaster" Target="handoutMasters/handoutMaster1.xml"/><Relationship Id="rId100" Type="http://schemas.openxmlformats.org/officeDocument/2006/relationships/tags" Target="tags/tag1.xml"/><Relationship Id="rId101" Type="http://schemas.openxmlformats.org/officeDocument/2006/relationships/presProps" Target="presProps.xml"/><Relationship Id="rId102" Type="http://schemas.openxmlformats.org/officeDocument/2006/relationships/viewProps" Target="viewProps.xml"/><Relationship Id="rId103" Type="http://schemas.openxmlformats.org/officeDocument/2006/relationships/theme" Target="theme/theme1.xml"/><Relationship Id="rId104" Type="http://schemas.openxmlformats.org/officeDocument/2006/relationships/tableStyles" Target="tableStyles.xml"/><Relationship Id="rId105" Type="http://schemas.microsoft.com/office/2016/11/relationships/changesInfo" Target="changesInfos/changesInfo1.xml"/><Relationship Id="rId10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Anker Hviid" userId="bae0bce0-65f9-439a-b9ea-9e02c6eefaa0" providerId="ADAL" clId="{3448FE47-1094-44DD-B9A2-7F65BCBFB61F}"/>
    <pc:docChg chg="undo custSel addSld delSld modSld sldOrd modMainMaster">
      <pc:chgData name="Christian Anker Hviid" userId="bae0bce0-65f9-439a-b9ea-9e02c6eefaa0" providerId="ADAL" clId="{3448FE47-1094-44DD-B9A2-7F65BCBFB61F}" dt="2026-10-07T20:31:55.564" v="2343" actId="20577"/>
      <pc:docMkLst>
        <pc:docMk/>
      </pc:docMkLst>
      <pc:sldChg chg="modSp new mod ord modShow">
        <pc:chgData name="Christian Anker Hviid" userId="bae0bce0-65f9-439a-b9ea-9e02c6eefaa0" providerId="ADAL" clId="{3448FE47-1094-44DD-B9A2-7F65BCBFB61F}" dt="2026-10-07T20:31:55.564" v="2343" actId="20577"/>
        <pc:sldMkLst>
          <pc:docMk/>
          <pc:sldMk cId="1600414983" sldId="398"/>
        </pc:sldMkLst>
        <pc:spChg chg="mod">
          <ac:chgData name="Christian Anker Hviid" userId="bae0bce0-65f9-439a-b9ea-9e02c6eefaa0" providerId="ADAL" clId="{3448FE47-1094-44DD-B9A2-7F65BCBFB61F}" dt="2026-10-07T20:21:04.850" v="1707" actId="20577"/>
          <ac:spMkLst>
            <pc:docMk/>
            <pc:sldMk cId="1600414983" sldId="398"/>
            <ac:spMk id="2" creationId="{58590A65-FE16-8C42-340F-8B327F3DF827}"/>
          </ac:spMkLst>
        </pc:spChg>
        <pc:spChg chg="mod">
          <ac:chgData name="Christian Anker Hviid" userId="bae0bce0-65f9-439a-b9ea-9e02c6eefaa0" providerId="ADAL" clId="{3448FE47-1094-44DD-B9A2-7F65BCBFB61F}" dt="2026-10-07T20:31:55.564" v="2343" actId="20577"/>
          <ac:spMkLst>
            <pc:docMk/>
            <pc:sldMk cId="1600414983" sldId="398"/>
            <ac:spMk id="3" creationId="{FB86305B-0C31-EC4A-02D7-57085DB041A0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491ECFBD-4A0D-4BCF-98A8-E205F44719BF}" type="slidenum">
              <a:rPr lang="da-DK" smtClean="0">
                <a:latin typeface="Arial" panose="020B0604020202020204" pitchFamily="34" charset="0"/>
              </a:rPr>
              <a:pPr/>
              <a:t>‹#›</a:t>
            </a:fld>
            <a:endParaRPr lang="da-DK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Computed with pythermalcomfort 3.x cooling_effect (SET method, ASHRAE 55).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from the ceiling fans chapter (Raftery et al. 2019 air speeds, 1.5 m fan).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a 2.5 m ceiling mean for blade height and ceiling clearance? Good class discussion. The 2.3 m value in EN 60335-2-80 is still to be confirmed by Christian.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from table tab-cfe in the ceiling fans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old PMV script charged 15 W in every hour and gave identical results with and without fans; it is retired until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Master title style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Master subtitle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17C6C-7BC3-4888-BC29-FAB17565D11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E4668-D07F-4B96-9755-1754027348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to edit Master title style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to edit Master subtitle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CA8860-CDAD-4F91-9292-2B11655C19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7A21B-9B48-4777-BF0D-9FB95719C2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499420-B0E8-4C8A-8C00-E21262271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1213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>
          <p15:clr>
            <a:srgbClr val="F26B43"/>
          </p15:clr>
        </p15:guide>
        <p15:guide id="2" pos="3896">
          <p15:clr>
            <a:srgbClr val="F26B43"/>
          </p15:clr>
        </p15:guide>
        <p15:guide id="3" pos="4205">
          <p15:clr>
            <a:srgbClr val="F26B43"/>
          </p15:clr>
        </p15:guide>
        <p15:guide id="4" pos="6984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6048672" cy="972716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986237-C7E2-4498-82A4-361A340A6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426127"/>
            <a:ext cx="6865740" cy="972716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26B732-1A52-4AA9-89FC-8FC5439E40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 dirty="0"/>
              <a:t>Click to add title one line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 dirty="0"/>
              <a:t>Click to add title one line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 dirty="0"/>
              <a:t>Click to add title one line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F74546-9D06-4CF7-806D-E04B043BF5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75ABF-082F-4A38-B952-09157E37A8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D49A-DF6B-4FB5-9BFA-4C684477652B}" type="datetimeFigureOut">
              <a:rPr lang="en-GB" smtClean="0"/>
              <a:t>02/10/2026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2BC56-B26D-4313-B0DD-0E8ED151EF7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63471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D49A-DF6B-4FB5-9BFA-4C684477652B}" type="datetimeFigureOut">
              <a:rPr lang="en-GB" smtClean="0"/>
              <a:t>02/10/2026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2BC56-B26D-4313-B0DD-0E8ED151EF7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99759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872033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tags" Target="../tags/tag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2.xml"/><Relationship Id="rId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5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spcBef>
                <a:spcPts val="0"/>
              </a:spcBef>
              <a:defRPr sz="700" b="0">
                <a:noFill/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endParaRPr lang="en-GB" dirty="0"/>
          </a:p>
        </p:txBody>
      </p:sp>
      <p:sp>
        <p:nvSpPr>
          <p:cNvPr id="113676" name="text" descr="{&quot;templafy&quot;:{&quot;id&quot;:&quot;2fce62a0-f28a-44e1-a519-0cbe37b25f7a&quot;}}" title="UserProfile.Offices.Workarea_{{DocumentLanguage}}"/>
          <p:cNvSpPr>
            <a:spLocks noChangeArrowheads="1"/>
          </p:cNvSpPr>
          <p:nvPr/>
        </p:nvSpPr>
        <p:spPr bwMode="auto">
          <a:xfrm>
            <a:off x="1774726" y="6541200"/>
            <a:ext cx="3397071" cy="31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0"/>
          <a:lstStyle/>
          <a:p>
            <a:pPr algn="l" eaLnBrk="0" hangingPunct="0">
              <a:spcBef>
                <a:spcPct val="0"/>
              </a:spcBef>
            </a:pPr>
            <a:r>
              <a:rPr lang="en-GB" sz="700" b="1" dirty="0">
                <a:solidFill>
                  <a:schemeClr val="bg1"/>
                </a:solidFill>
                <a:latin typeface="+mn-lt"/>
              </a:rPr>
              <a:t>DTU Construct</a:t>
            </a:r>
          </a:p>
        </p:txBody>
      </p:sp>
      <p:sp>
        <p:nvSpPr>
          <p:cNvPr id="5" name="date" descr="{&quot;templafy&quot;:{&quot;id&quot;:&quot;58465eeb-cfe0-4970-97ec-88179dc0a9c2&quot;}}" title="Form.Date">
            <a:extLst>
              <a:ext uri="{FF2B5EF4-FFF2-40B4-BE49-F238E27FC236}">
                <a16:creationId xmlns:a16="http://schemas.microsoft.com/office/drawing/2014/main" id="{792B975C-625D-4095-8E1D-63F20A11B57C}"/>
              </a:ext>
            </a:extLst>
          </p:cNvPr>
          <p:cNvSpPr/>
          <p:nvPr userDrawn="1"/>
        </p:nvSpPr>
        <p:spPr bwMode="auto">
          <a:xfrm>
            <a:off x="251363" y="6541200"/>
            <a:ext cx="1104013" cy="316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7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pitchFamily="-80" charset="-128"/>
              </a:rPr>
              <a:t>41463 HPB</a:t>
            </a:r>
            <a:endParaRPr kumimoji="0" lang="en-GB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text" descr="{&quot;templafy&quot;:{&quot;id&quot;:&quot;5020bdfb-1912-4d6d-a5c3-71b7da283692&quot;}}" title="Form.PresentationTitle">
            <a:extLst>
              <a:ext uri="{FF2B5EF4-FFF2-40B4-BE49-F238E27FC236}">
                <a16:creationId xmlns:a16="http://schemas.microsoft.com/office/drawing/2014/main" id="{06B09BDB-1C7D-4F8A-8F1B-82D88054A428}"/>
              </a:ext>
            </a:extLst>
          </p:cNvPr>
          <p:cNvSpPr txBox="1"/>
          <p:nvPr userDrawn="1"/>
        </p:nvSpPr>
        <p:spPr>
          <a:xfrm>
            <a:off x="5591149" y="6541200"/>
            <a:ext cx="5495949" cy="31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GB" sz="700">
                <a:solidFill>
                  <a:schemeClr val="bg1"/>
                </a:solidFill>
                <a:latin typeface="+mn-lt"/>
              </a:rPr>
              <a:t>Passive cooling 3: Ceiling fans</a:t>
            </a: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  <p:sldLayoutId id="2147483679" r:id="rId12"/>
    <p:sldLayoutId id="2147483680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12694" y="304800"/>
            <a:ext cx="1036185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da-DK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694" y="1600200"/>
            <a:ext cx="10361851" cy="456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da-DK"/>
              <a:t>Click to edit Master text styles</a:t>
            </a:r>
          </a:p>
          <a:p>
            <a:pPr lvl="1"/>
            <a:r>
              <a:rPr lang="en-GB" altLang="da-DK"/>
              <a:t>Second level</a:t>
            </a:r>
          </a:p>
          <a:p>
            <a:pPr lvl="2"/>
            <a:r>
              <a:rPr lang="en-GB" altLang="da-DK"/>
              <a:t>Third level</a:t>
            </a:r>
          </a:p>
          <a:p>
            <a:pPr lvl="3"/>
            <a:r>
              <a:rPr lang="en-GB" altLang="da-DK"/>
              <a:t>Fourth level</a:t>
            </a:r>
          </a:p>
          <a:p>
            <a:pPr lvl="4"/>
            <a:r>
              <a:rPr lang="en-GB" altLang="da-DK"/>
              <a:t>Fifth level</a:t>
            </a:r>
          </a:p>
        </p:txBody>
      </p:sp>
      <p:pic>
        <p:nvPicPr>
          <p:cNvPr id="1028" name="Picture 9" descr="DTU-DK-A1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26399" y="279400"/>
            <a:ext cx="6391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Rectangle 11"/>
          <p:cNvSpPr>
            <a:spLocks noChangeArrowheads="1"/>
          </p:cNvSpPr>
          <p:nvPr userDrawn="1"/>
        </p:nvSpPr>
        <p:spPr bwMode="auto">
          <a:xfrm>
            <a:off x="10156563" y="6477000"/>
            <a:ext cx="101798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GB" altLang="da-DK" sz="900"/>
              <a:t>01/06/2018</a:t>
            </a:r>
            <a:endParaRPr lang="da-DK" altLang="da-DK" sz="900"/>
          </a:p>
        </p:txBody>
      </p:sp>
      <p:sp>
        <p:nvSpPr>
          <p:cNvPr id="1030" name="Rectangle 12"/>
          <p:cNvSpPr>
            <a:spLocks noChangeArrowheads="1"/>
          </p:cNvSpPr>
          <p:nvPr userDrawn="1"/>
        </p:nvSpPr>
        <p:spPr bwMode="auto">
          <a:xfrm>
            <a:off x="6399968" y="6477000"/>
            <a:ext cx="365500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9pPr>
          </a:lstStyle>
          <a:p>
            <a:pPr algn="r">
              <a:spcBef>
                <a:spcPct val="0"/>
              </a:spcBef>
            </a:pPr>
            <a:r>
              <a:rPr lang="da-DK" altLang="da-DK" sz="900"/>
              <a:t>Heating systems in dwellings</a:t>
            </a:r>
          </a:p>
        </p:txBody>
      </p:sp>
      <p:sp>
        <p:nvSpPr>
          <p:cNvPr id="1031" name="Rectangle 13"/>
          <p:cNvSpPr>
            <a:spLocks noChangeArrowheads="1"/>
          </p:cNvSpPr>
          <p:nvPr userDrawn="1"/>
        </p:nvSpPr>
        <p:spPr bwMode="auto">
          <a:xfrm>
            <a:off x="812694" y="6477000"/>
            <a:ext cx="40634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9pPr>
          </a:lstStyle>
          <a:p>
            <a:pPr>
              <a:spcBef>
                <a:spcPct val="0"/>
              </a:spcBef>
            </a:pPr>
            <a:fld id="{B1456AA2-CE4E-48AF-8349-909CA6F24395}" type="slidenum">
              <a:rPr lang="da-DK" altLang="da-DK" sz="900"/>
              <a:pPr>
                <a:spcBef>
                  <a:spcPct val="0"/>
                </a:spcBef>
              </a:pPr>
              <a:t>‹#›</a:t>
            </a:fld>
            <a:endParaRPr lang="da-DK" altLang="da-DK" sz="900"/>
          </a:p>
        </p:txBody>
      </p:sp>
      <p:sp>
        <p:nvSpPr>
          <p:cNvPr id="1032" name="Rectangle 14"/>
          <p:cNvSpPr>
            <a:spLocks noChangeArrowheads="1"/>
          </p:cNvSpPr>
          <p:nvPr userDrawn="1"/>
        </p:nvSpPr>
        <p:spPr bwMode="auto">
          <a:xfrm>
            <a:off x="1318513" y="6477000"/>
            <a:ext cx="4922726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GB" altLang="da-DK" sz="900" b="1"/>
              <a:t>DTU Civil Engineering, Technical University of Denmark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88913" indent="-188913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95263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2pPr>
      <a:lvl3pPr marL="1279525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3pPr>
      <a:lvl4pPr marL="1698625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117725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5pPr>
      <a:lvl6pPr marL="2574925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6pPr>
      <a:lvl7pPr marL="3032125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7pPr>
      <a:lvl8pPr marL="3489325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8pPr>
      <a:lvl9pPr marL="3946525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Ceiling fans for peak periods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Passive cooling, lecture 3 of 4  ·  Assignment 4, part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How a fan cools people</a:t>
            </a:r>
          </a:p>
          <a:p>
            <a:pPr/>
            <a:r>
              <a:t>Cooling effect from air speed (SET)</a:t>
            </a:r>
          </a:p>
          <a:p>
            <a:pPr/>
            <a:r>
              <a:t>Choosing and placing a fan</a:t>
            </a:r>
          </a:p>
          <a:p>
            <a:pPr/>
            <a:r>
              <a:t>Cooling fan efficiency</a:t>
            </a:r>
          </a:p>
          <a:p>
            <a:pPr/>
            <a:r>
              <a:t>Peak-period operation</a:t>
            </a:r>
          </a:p>
          <a:p>
            <a:pPr/>
            <a:r>
              <a:t>Cooling COP against air-conditioning</a:t>
            </a:r>
          </a:p>
          <a:p>
            <a:pPr/>
            <a:r>
              <a:t>Assignment part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are in the cooling assignment</a:t>
            </a:r>
          </a:p>
        </p:txBody>
      </p:sp>
      <p:sp>
        <p:nvSpPr>
          <p:cNvPr id="3" name="Part 1"/>
          <p:cNvSpPr/>
          <p:nvPr/>
        </p:nvSpPr>
        <p:spPr>
          <a:xfrm>
            <a:off x="1774726" y="2011680"/>
            <a:ext cx="2088063" cy="13716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57606" y="2148840"/>
            <a:ext cx="17223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6E6E6E"/>
                </a:solidFill>
              </a:rPr>
              <a:t>Part 1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62626"/>
                </a:solidFill>
              </a:rPr>
              <a:t>Window size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</a:rPr>
              <a:t>AutoMOO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08509" y="2587752"/>
            <a:ext cx="228600" cy="219456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t 2"/>
          <p:cNvSpPr/>
          <p:nvPr/>
        </p:nvSpPr>
        <p:spPr>
          <a:xfrm>
            <a:off x="4182829" y="2011680"/>
            <a:ext cx="2088063" cy="13716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365709" y="2148840"/>
            <a:ext cx="17223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6E6E6E"/>
                </a:solidFill>
              </a:rPr>
              <a:t>Part 2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62626"/>
                </a:solidFill>
              </a:rPr>
              <a:t>Venting hatch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</a:rPr>
              <a:t>jet theory, draught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316612" y="2587752"/>
            <a:ext cx="228600" cy="219456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rt 3"/>
          <p:cNvSpPr/>
          <p:nvPr/>
        </p:nvSpPr>
        <p:spPr>
          <a:xfrm>
            <a:off x="6590932" y="2011680"/>
            <a:ext cx="2088063" cy="1371600"/>
          </a:xfrm>
          <a:prstGeom prst="roundRect">
            <a:avLst>
              <a:gd name="adj" fmla="val 6000"/>
            </a:avLst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773812" y="2148840"/>
            <a:ext cx="17223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</a:rPr>
              <a:t>Part 3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</a:rPr>
              <a:t>Ceiling fans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</a:rPr>
              <a:t>peak periods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724715" y="2587752"/>
            <a:ext cx="228600" cy="219456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rt 4"/>
          <p:cNvSpPr/>
          <p:nvPr/>
        </p:nvSpPr>
        <p:spPr>
          <a:xfrm>
            <a:off x="8999035" y="2011680"/>
            <a:ext cx="2088063" cy="13716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81915" y="2148840"/>
            <a:ext cx="172230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6E6E6E"/>
                </a:solidFill>
              </a:rPr>
              <a:t>Part 4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62626"/>
                </a:solidFill>
              </a:rPr>
              <a:t>Shutters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</a:rPr>
              <a:t>heat wave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4726" y="3840480"/>
            <a:ext cx="931237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800" b="0" i="0">
                <a:solidFill>
                  <a:srgbClr val="262626"/>
                </a:solidFill>
              </a:rPr>
              <a:t>Step 4 of the cooling strategy: ventilative cooling cannot go below the outdoor temperature.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800" b="0" i="0">
                <a:solidFill>
                  <a:srgbClr val="262626"/>
                </a:solidFill>
              </a:rPr>
              <a:t>A fan lets occupants accept a higher temperature, at a fraction of the power of air-conditioning.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How a fan cools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Part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fan cools people, not the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74726" y="1709928"/>
            <a:ext cx="3264382" cy="4553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Higher air speed raises convective and evaporative heat loss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The air temperature does not drop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So the fan only helps when someone is in the room</a:t>
            </a:r>
          </a:p>
        </p:txBody>
      </p:sp>
      <p:pic>
        <p:nvPicPr>
          <p:cNvPr id="4" name="Picture 3" descr="ceiling-fan-air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428" y="2463176"/>
            <a:ext cx="5773672" cy="30472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Cooling effect rises steeply up to about 0.5 m/s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74726" y="1709928"/>
            <a:ext cx="3264382" cy="4553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0.5 m/s gives 2.8 °C at 28 °C, 50 % RH, 1.2 met, 0.5 clo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Above about 0.8 m/s extra speed buys little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CBE design guide uses about 2 °C at 0.5 m/s as a design value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Use pythermalcomfort cooling_effect()</a:t>
            </a:r>
          </a:p>
        </p:txBody>
      </p:sp>
      <p:pic>
        <p:nvPicPr>
          <p:cNvPr id="4" name="Picture 3" descr="cooling-effect-vs-sp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428" y="2140433"/>
            <a:ext cx="5773672" cy="36927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effect is local: sit within one diameter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74726" y="1709928"/>
            <a:ext cx="3264382" cy="4553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Largest within about 0.4 D of the centre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Drops sharply at the edge of the jet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Half speed costs about 1 °C under the fan, but saves far more power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Place the fan over the bed or the sofa</a:t>
            </a:r>
          </a:p>
        </p:txBody>
      </p:sp>
      <p:pic>
        <p:nvPicPr>
          <p:cNvPr id="4" name="Picture 3" descr="cooling-effect-dis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428" y="2419644"/>
            <a:ext cx="5773672" cy="31342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Choosing a fan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Part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and placing a fan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74726" y="1709928"/>
            <a:ext cx="2921244" cy="26517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9318" y="1874520"/>
            <a:ext cx="25920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990000"/>
                </a:solidFill>
              </a:rPr>
              <a:t>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9318" y="2331720"/>
            <a:ext cx="2592060" cy="1847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Diameter 0.2–0.4 × √(floor area)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One fan per roughly square cell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Aspect ratio up to 1.5:1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70290" y="1709928"/>
            <a:ext cx="2921244" cy="26517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134882" y="1874520"/>
            <a:ext cx="25920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990000"/>
                </a:solidFill>
              </a:rPr>
              <a:t>Mounting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34882" y="2331720"/>
            <a:ext cx="2592060" cy="1847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Blades ≥ 2.1 m above floor (CBE); 2.3 m in EN 60335-2-80 [to confirm]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≈ 0.2 D below the ceiling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≥ 0.45 m from walls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5854" y="1709928"/>
            <a:ext cx="2921244" cy="26517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330446" y="1874520"/>
            <a:ext cx="25920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990000"/>
                </a:solidFill>
              </a:rPr>
              <a:t>Datasheet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0446" y="2331720"/>
            <a:ext cx="2592060" cy="1847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Airflow and power at each speed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Watch CFM vs m³/h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262626"/>
                </a:solidFill>
              </a:rPr>
              <a:t>DC motors use far less power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74726" y="4572000"/>
            <a:ext cx="9312374" cy="1097280"/>
          </a:xfrm>
          <a:prstGeom prst="roundRect">
            <a:avLst>
              <a:gd name="adj" fmla="val 6000"/>
            </a:avLst>
          </a:prstGeom>
          <a:solidFill>
            <a:srgbClr val="F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957606" y="4663440"/>
            <a:ext cx="894661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E6E6E"/>
                </a:solidFill>
              </a:rPr>
              <a:t>Room-average air speed for seated occupants (Raftery et al. 2019); D, R, C in m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262626"/>
                </a:solidFill>
                <a:latin typeface="Cambria"/>
              </a:rPr>
              <a:t>S_F = 4Q / (πD²)      S_O,avg = S_F (0.25 + 0.99 D/R − 0.06 C/D + 0.11 D/1.7 + 0.024)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Compare fans by cooling per watt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74726" y="1709928"/>
            <a:ext cx="3078134" cy="4553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CFE = cooling effect / fan power (ASHRAE 216)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Six fans give 3.5–3.9 °C, but CFE differs six-fold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Choose by power at the speed you need, not by max. airflow</a:t>
            </a:r>
          </a:p>
        </p:txBody>
      </p:sp>
      <p:pic>
        <p:nvPicPr>
          <p:cNvPr id="4" name="Picture 3" descr="cfe-fa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180" y="2734535"/>
            <a:ext cx="5959920" cy="25044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Operation and cooling COP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Part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 the fan only in peak periods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74726" y="1709928"/>
            <a:ext cx="2053773" cy="1188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884454" y="1783080"/>
            <a:ext cx="1834317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262626"/>
                </a:solidFill>
              </a:rPr>
              <a:t>Occupied hour?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</a:rPr>
              <a:t/>
            </a:r>
          </a:p>
        </p:txBody>
      </p:sp>
      <p:sp>
        <p:nvSpPr>
          <p:cNvPr id="5" name="Right Arrow 4"/>
          <p:cNvSpPr/>
          <p:nvPr/>
        </p:nvSpPr>
        <p:spPr>
          <a:xfrm>
            <a:off x="3883363" y="2194560"/>
            <a:ext cx="256032" cy="219456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94259" y="1709928"/>
            <a:ext cx="2053773" cy="1188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303987" y="1783080"/>
            <a:ext cx="1834317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262626"/>
                </a:solidFill>
              </a:rPr>
              <a:t>T_op &gt; cat. II limit?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</a:rPr>
              <a:t>or your own threshold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302896" y="2194560"/>
            <a:ext cx="256032" cy="219456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13792" y="1709928"/>
            <a:ext cx="2053773" cy="1188720"/>
          </a:xfrm>
          <a:prstGeom prst="roundRect">
            <a:avLst>
              <a:gd name="adj" fmla="val 6000"/>
            </a:avLst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723520" y="1783080"/>
            <a:ext cx="1834317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</a:rPr>
              <a:t>Fan on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</a:rPr>
              <a:t>count hour and kWh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722429" y="2194560"/>
            <a:ext cx="256032" cy="219456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033325" y="1709928"/>
            <a:ext cx="2053773" cy="1188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3053" y="1783080"/>
            <a:ext cx="1834317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262626"/>
                </a:solidFill>
              </a:rPr>
              <a:t>Recount hours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</a:rPr>
              <a:t>T_op − CE vs limit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4726" y="3200400"/>
            <a:ext cx="9312374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700" b="0" i="0">
                <a:solidFill>
                  <a:srgbClr val="262626"/>
                </a:solidFill>
              </a:rPr>
              <a:t>Fan hours come from your part 2 results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700" b="0" i="0">
                <a:solidFill>
                  <a:srgbClr val="262626"/>
                </a:solidFill>
              </a:rPr>
              <a:t>Fan power counts only in fan hours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700" b="0" i="0">
                <a:solidFill>
                  <a:srgbClr val="262626"/>
                </a:solidFill>
              </a:rPr>
              <a:t>Recount the hours above category II with CE subtracted, or with the limit raised by 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Cooling COP: what the fan saves an air-conditioner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74726" y="1709928"/>
            <a:ext cx="9312374" cy="1097280"/>
          </a:xfrm>
          <a:prstGeom prst="roundRect">
            <a:avLst>
              <a:gd name="adj" fmla="val 6000"/>
            </a:avLst>
          </a:prstGeom>
          <a:solidFill>
            <a:srgbClr val="F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57606" y="1801368"/>
            <a:ext cx="894661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E6E6E"/>
                </a:solidFill>
              </a:rPr>
              <a:t>Ideal cooling demand in IDA ICE at two setpoints, over the fan hours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62626"/>
                </a:solidFill>
                <a:latin typeface="Cambria"/>
              </a:rPr>
              <a:t>COP_fan = [Q_cool(T_sp) − Q_cool(T_sp + CE)] / E_fan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4726" y="3200400"/>
            <a:ext cx="29212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990000"/>
                </a:solidFill>
              </a:rPr>
              <a:t>5–8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4726" y="3977640"/>
            <a:ext cx="29212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E6E6E"/>
                </a:solidFill>
              </a:rPr>
              <a:t>SEER of a split air-conditioner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70290" y="3200400"/>
            <a:ext cx="29212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990000"/>
                </a:solidFill>
              </a:rPr>
              <a:t>10–100 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70290" y="3977640"/>
            <a:ext cx="29212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E6E6E"/>
                </a:solidFill>
              </a:rPr>
              <a:t>HVAC savings over fan energy (CBE guide)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5854" y="3200400"/>
            <a:ext cx="2921244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</a:rPr>
              <a:t>The fan removes no heat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</a:rPr>
              <a:t>Compare primary energy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500" b="0" i="0">
                <a:solidFill>
                  <a:srgbClr val="262626"/>
                </a:solidFill>
              </a:rPr>
              <a:t>When do fans run compared with the electricity price?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Worked example: one fan in a row-house bedroom</a:t>
            </a:r>
          </a:p>
        </p:txBody>
      </p:sp>
      <p:sp>
        <p:nvSpPr>
          <p:cNvPr id="3" name="To develop"/>
          <p:cNvSpPr/>
          <p:nvPr/>
        </p:nvSpPr>
        <p:spPr>
          <a:xfrm>
            <a:off x="1774726" y="1709928"/>
            <a:ext cx="9312374" cy="4370832"/>
          </a:xfrm>
          <a:prstGeom prst="rect">
            <a:avLst/>
          </a:prstGeom>
          <a:noFill/>
          <a:ln w="19050">
            <a:solidFill>
              <a:srgbClr val="6E6E6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003326" y="1892808"/>
            <a:ext cx="8855174" cy="4005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990000"/>
                </a:solidFill>
              </a:rPr>
              <a:t>TO DEVELOP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6E6E6E"/>
                </a:solidFill>
              </a:rPr>
              <a:t>Pick a real DC fan, read Q and P per speed from the datasheet.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6E6E6E"/>
                </a:solidFill>
              </a:rPr>
              <a:t>S_F → S_O,avg → CE at 28 °C → CFE per speed; mark the most efficient speed.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6E6E6E"/>
                </a:solidFill>
              </a:rPr>
              <a:t>Show the two-setpoint IDA ICE run for COP_fan on one zone.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Assignment part 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74726" y="1709928"/>
            <a:ext cx="1569866" cy="1188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884454" y="1783080"/>
            <a:ext cx="135041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262626"/>
                </a:solidFill>
              </a:rPr>
              <a:t>Q3.1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</a:rPr>
              <a:t>choose a fan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399456" y="2194560"/>
            <a:ext cx="256032" cy="219456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10352" y="1709928"/>
            <a:ext cx="1569866" cy="1188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820080" y="1783080"/>
            <a:ext cx="135041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262626"/>
                </a:solidFill>
              </a:rPr>
              <a:t>Q3.2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</a:rPr>
              <a:t>air speed and CE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335082" y="2194560"/>
            <a:ext cx="256032" cy="219456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45978" y="1709928"/>
            <a:ext cx="1569866" cy="1188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755706" y="1783080"/>
            <a:ext cx="135041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262626"/>
                </a:solidFill>
              </a:rPr>
              <a:t>Q3.3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</a:rPr>
              <a:t>CFE per speed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70708" y="2194560"/>
            <a:ext cx="256032" cy="219456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1604" y="1709928"/>
            <a:ext cx="1569866" cy="1188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691332" y="1783080"/>
            <a:ext cx="135041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262626"/>
                </a:solidFill>
              </a:rPr>
              <a:t>Q3.4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</a:rPr>
              <a:t>peak-period hours, kWh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206334" y="2194560"/>
            <a:ext cx="256032" cy="219456"/>
          </a:xfrm>
          <a:prstGeom prst="rightArrow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17230" y="1709928"/>
            <a:ext cx="1569866" cy="1188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26958" y="1783080"/>
            <a:ext cx="135041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262626"/>
                </a:solidFill>
              </a:rPr>
              <a:t>Q3.5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262626"/>
                </a:solidFill>
              </a:rPr>
              <a:t>cooling COP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74726" y="3200400"/>
            <a:ext cx="9312374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Char char="•"/>
            </a:pPr>
            <a:r>
              <a:rPr sz="1600" b="1" i="0">
                <a:solidFill>
                  <a:srgbClr val="262626"/>
                </a:solidFill>
              </a:rPr>
              <a:t>Hand in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Table of air speed, CE, power and CFE per speed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Fan hours, kWh, and hours above category II with and without fans</a:t>
            </a:r>
          </a:p>
          <a:p>
            <a:pPr algn="l" marL="228600" indent="-228600">
              <a:spcAft>
                <a:spcPts val="600"/>
              </a:spcAft>
              <a:buChar char="•"/>
            </a:pPr>
            <a:r>
              <a:rPr sz="1600" b="0" i="0">
                <a:solidFill>
                  <a:srgbClr val="262626"/>
                </a:solidFill>
              </a:rPr>
              <a:t>COP_fan with the calculation, 5–10 lines comparing with AC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DNEW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3B38FA3B-2246-40E5-A61A-EA1559A3CD76}" vid="{D5F764FD-A73C-4B6C-BF48-3536DEB79AD2}"/>
    </a:ext>
  </a:extLst>
</a:theme>
</file>

<file path=ppt/theme/theme2.xml><?xml version="1.0" encoding="utf-8"?>
<a:theme xmlns:a="http://schemas.openxmlformats.org/drawingml/2006/main" name="DTU Civil Engineering">
  <a:themeElements>
    <a:clrScheme name="DTU Civil Engineering 13">
      <a:dk1>
        <a:srgbClr val="000000"/>
      </a:dk1>
      <a:lt1>
        <a:srgbClr val="FFFFFF"/>
      </a:lt1>
      <a:dk2>
        <a:srgbClr val="990000"/>
      </a:dk2>
      <a:lt2>
        <a:srgbClr val="999999"/>
      </a:lt2>
      <a:accent1>
        <a:srgbClr val="FF9900"/>
      </a:accent1>
      <a:accent2>
        <a:srgbClr val="FF66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5C00"/>
      </a:accent6>
      <a:hlink>
        <a:srgbClr val="FF0000"/>
      </a:hlink>
      <a:folHlink>
        <a:srgbClr val="990000"/>
      </a:folHlink>
    </a:clrScheme>
    <a:fontScheme name="DTU Civil Engineering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da-DK" altLang="da-DK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ＭＳ Ｐゴシック" pitchFamily="-8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da-DK" altLang="da-DK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ＭＳ Ｐゴシック" pitchFamily="-80" charset="-128"/>
          </a:defRPr>
        </a:defPPr>
      </a:lstStyle>
    </a:lnDef>
  </a:objectDefaults>
  <a:extraClrSchemeLst>
    <a:extraClrScheme>
      <a:clrScheme name="DTU Civil Eng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TU Civil Eng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TU Civil Eng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TU Civil Eng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TU Civil Eng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TU Civil Eng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TU Civil Eng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TU Civil Eng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TU Civil Eng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TU Civil Eng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TU Civil Eng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TU Civil Eng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TU Civil Engineering 13">
        <a:dk1>
          <a:srgbClr val="000000"/>
        </a:dk1>
        <a:lt1>
          <a:srgbClr val="FFFFFF"/>
        </a:lt1>
        <a:dk2>
          <a:srgbClr val="990000"/>
        </a:dk2>
        <a:lt2>
          <a:srgbClr val="999999"/>
        </a:lt2>
        <a:accent1>
          <a:srgbClr val="FF9900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5C00"/>
        </a:accent6>
        <a:hlink>
          <a:srgbClr val="FF00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TemplafyFormConfiguration><![CDATA[{"formFields":[{"required":false,"helpTexts":{"prefix":"","postfix":""},"spacing":{},"type":"datePicker","name":"Date","label":"Date","fullyQualifiedName":"Date"},{"required":false,"placeholder":"","lines":0,"helpTexts":{"prefix":"","postfix":""},"spacing":{},"type":"textBox","name":"PresentationTitle","label":"Presentation title","fullyQualifiedName":"PresentationTitle"}],"formDataEntries":[{"name":"Date","value":"YuLtZURdK3xNkPTH0fbT1A=="},{"name":"PresentationTitle","value":"r/LsGLKaYCx5eFWDMe7G8Wrniink23TC/tGWLRdEGdc="}]}]]></TemplafyFormConfiguration>
</file>

<file path=customXml/item2.xml><?xml version="1.0" encoding="utf-8"?>
<TemplafyTemplateConfiguration><![CDATA[{"elementsMetadata":[{"type":"shape","id":"2fce62a0-f28a-44e1-a519-0cbe37b25f7a","elementConfiguration":{"binding":"UserProfile.Offices.Workarea_{{DocumentLanguage}}","disableUpdates":false,"type":"text"}},{"type":"shape","id":"58465eeb-cfe0-4970-97ec-88179dc0a9c2","elementConfiguration":{"binding":"Form.Date","format":"{{DateFormats.GeneralDate}}","disableUpdates":false,"type":"date"}},{"type":"shape","id":"5020bdfb-1912-4d6d-a5c3-71b7da283692","elementConfiguration":{"binding":"Form.PresentationTitle","disableUpdates":false,"type":"text"}},{"type":"shape","id":"8d5b95d1-8a23-4044-9620-bf5e7305a170","elementConfiguration":{"binding":"UserProfile.Offices.Workarea_{{DocumentLanguage}}","disableUpdates":false,"type":"text"}},{"type":"shape","id":"79fbb3c3-dd89-47ef-91e9-e0bd2bb0942f","elementConfiguration":{"binding":"Form.Date","format":"{{DateFormats.GeneralDate}}","disableUpdates":false,"type":"date"}},{"type":"shape","id":"5e9447ba-0dff-46ec-ac33-540c046ca40a","elementConfiguration":{"binding":"Form.PresentationTitle","disableUpdates":false,"type":"text"}}],"transformationConfigurations":[{"language":"{{DocumentLanguage}}","disableUpdates":false,"type":"proofingLanguage"}],"enableDocumentContentUpdater":true,"templateName":"DTU Template 16_9 - Corporate red","templateDescription":"","version":"1.2"}]]></TemplafyTemplateConfiguration>
</file>

<file path=customXml/item3.xml><?xml version="1.0" encoding="utf-8"?>
<TemplafySlideTemplateConfiguration><![CDATA[{"elementsMetadata":[],"enableDocumentContentUpdater":true,"documentContentValidatorConfiguration":{"enableDocumentContentValidator":false,"documentContentValidatorVersion":0},"slideId":"636837486369128185","version":"1.2"}]]></TemplafySlideTemplate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TemplateConfiguration><![CDATA[{"elementsMetadata":[],"enableDocumentContentUpdater":true,"documentContentValidatorConfiguration":{"enableDocumentContentValidator":false,"documentContentValidatorVersion":0},"slideId":"636837486369753289","version":"1.2"}]]></TemplafySlideTemplateConfiguration>
</file>

<file path=customXml/itemProps1.xml><?xml version="1.0" encoding="utf-8"?>
<ds:datastoreItem xmlns:ds="http://schemas.openxmlformats.org/officeDocument/2006/customXml" ds:itemID="{05DC2B94-7C1B-4C14-83B0-9CD2A82C27E0}">
  <ds:schemaRefs/>
</ds:datastoreItem>
</file>

<file path=customXml/itemProps2.xml><?xml version="1.0" encoding="utf-8"?>
<ds:datastoreItem xmlns:ds="http://schemas.openxmlformats.org/officeDocument/2006/customXml" ds:itemID="{1334258C-C3E7-4029-A615-C886A240FB15}">
  <ds:schemaRefs/>
</ds:datastoreItem>
</file>

<file path=customXml/itemProps3.xml><?xml version="1.0" encoding="utf-8"?>
<ds:datastoreItem xmlns:ds="http://schemas.openxmlformats.org/officeDocument/2006/customXml" ds:itemID="{11FAAC39-0A3A-4CC2-A9C1-60940B78AE17}">
  <ds:schemaRefs/>
</ds:datastoreItem>
</file>

<file path=customXml/itemProps4.xml><?xml version="1.0" encoding="utf-8"?>
<ds:datastoreItem xmlns:ds="http://schemas.openxmlformats.org/officeDocument/2006/customXml" ds:itemID="{56C8BFB2-A911-4310-9D4A-421D773FAFA6}">
  <ds:schemaRefs/>
</ds:datastoreItem>
</file>

<file path=customXml/itemProps5.xml><?xml version="1.0" encoding="utf-8"?>
<ds:datastoreItem xmlns:ds="http://schemas.openxmlformats.org/officeDocument/2006/customXml" ds:itemID="{F4C08C7F-F953-44DE-ACDE-930692BDDB0F}">
  <ds:schemaRefs/>
</ds:datastoreItem>
</file>

<file path=customXml/itemProps6.xml><?xml version="1.0" encoding="utf-8"?>
<ds:datastoreItem xmlns:ds="http://schemas.openxmlformats.org/officeDocument/2006/customXml" ds:itemID="{02E7CCCE-613B-4CED-B813-E473EA1E01B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16088</TotalTime>
  <Words>2502</Words>
  <Application>Microsoft Office PowerPoint</Application>
  <PresentationFormat>Custom</PresentationFormat>
  <Paragraphs>401</Paragraphs>
  <Slides>89</Slides>
  <Notes>1</Notes>
  <HiddenSlides>36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7" baseType="lpstr">
      <vt:lpstr>Arial</vt:lpstr>
      <vt:lpstr>Symbol</vt:lpstr>
      <vt:lpstr>Times New Roman</vt:lpstr>
      <vt:lpstr>Verdana</vt:lpstr>
      <vt:lpstr>Wingdings</vt:lpstr>
      <vt:lpstr>Blank</vt:lpstr>
      <vt:lpstr>DTU Civil Engineering</vt:lpstr>
      <vt:lpstr>Ligning</vt:lpstr>
      <vt:lpstr>Space heating systems for box buildings as ONZEB</vt:lpstr>
      <vt:lpstr>DHW tank</vt:lpstr>
      <vt:lpstr>PowerPoint Presentation</vt:lpstr>
      <vt:lpstr>Make a slide with LCC</vt:lpstr>
      <vt:lpstr>Improvements</vt:lpstr>
      <vt:lpstr>Agenda</vt:lpstr>
      <vt:lpstr>Floor heating systems</vt:lpstr>
      <vt:lpstr>Hydronic floor heating systems</vt:lpstr>
      <vt:lpstr>Types of floor heating system:  concrete slab or wood beam floor </vt:lpstr>
      <vt:lpstr>Light or heavy</vt:lpstr>
      <vt:lpstr>Floor heating installation </vt:lpstr>
      <vt:lpstr>Manifold distributes water horizontally What about vertically? </vt:lpstr>
      <vt:lpstr>Pipes </vt:lpstr>
      <vt:lpstr>PowerPoint Presentation</vt:lpstr>
      <vt:lpstr>Loops layouts to achieve even temperature distribution between supply and return</vt:lpstr>
      <vt:lpstr>Shunt controls supply temperature to manifold</vt:lpstr>
      <vt:lpstr>PowerPoint Presentation</vt:lpstr>
      <vt:lpstr>PowerPoint Presentation</vt:lpstr>
      <vt:lpstr>Short and long pipes needs balancing </vt:lpstr>
      <vt:lpstr>Pre-settings to ensure that long and short pipes have the correct massflow</vt:lpstr>
      <vt:lpstr>How important is balancing?  Potential reduction in supply temperature in apartment</vt:lpstr>
      <vt:lpstr>Digital twin of floor heating system  </vt:lpstr>
      <vt:lpstr>Heat transfer from surface to room using floor heating</vt:lpstr>
      <vt:lpstr>Thermal comfort of floor surface temperature</vt:lpstr>
      <vt:lpstr>Calculation of heat transfer coefficient according to EN15377-1 Annex C</vt:lpstr>
      <vt:lpstr>Heating capacity at a given surface temperature Required surface temperature at given heat output</vt:lpstr>
      <vt:lpstr>Heating capacity at a given surface temperature Required surface temperature at given heat output</vt:lpstr>
      <vt:lpstr>Heating capacity at a given surface temperature Required surface temperature at given heat output</vt:lpstr>
      <vt:lpstr>Control</vt:lpstr>
      <vt:lpstr>Pulse-width modulation (PWM) </vt:lpstr>
      <vt:lpstr>Alternative to active control: self-regulation</vt:lpstr>
      <vt:lpstr>Floor heating models in HEAT2 and in IDA ICE Real operation</vt:lpstr>
      <vt:lpstr> Temperature distribution with water temperatures of 40 C and 23 C</vt:lpstr>
      <vt:lpstr>Detailed 3D model of floor in COMSOL used for comparison with 1D model of IDA ICE</vt:lpstr>
      <vt:lpstr>PowerPoint Presentation</vt:lpstr>
      <vt:lpstr>PowerPoint Presentation</vt:lpstr>
      <vt:lpstr>PowerPoint Presentation</vt:lpstr>
      <vt:lpstr>Learnings</vt:lpstr>
      <vt:lpstr>Bathroom floor comfort heating with separate mixing loop</vt:lpstr>
      <vt:lpstr>PowerPoint Presentation</vt:lpstr>
      <vt:lpstr>Ground heat exchanger for floor cooling and preheating of supply air for ventilation</vt:lpstr>
      <vt:lpstr>Preheating supply air to prevent freezing Basic cooling in summer</vt:lpstr>
      <vt:lpstr>Preheating of supply air to prevent frost </vt:lpstr>
      <vt:lpstr>Floor cooling and air supply preheating</vt:lpstr>
      <vt:lpstr>Danfoss ventilation unit  </vt:lpstr>
      <vt:lpstr>Preheating and precooling by geothermal loop</vt:lpstr>
      <vt:lpstr>Pipe lengths </vt:lpstr>
      <vt:lpstr>Laying pipe </vt:lpstr>
      <vt:lpstr>Improved frost protection performance </vt:lpstr>
      <vt:lpstr>Heating solution costs</vt:lpstr>
      <vt:lpstr>A cheaper heating system in the row house? </vt:lpstr>
      <vt:lpstr>PowerPoint Presentation</vt:lpstr>
      <vt:lpstr>Cost of floor heating Central unit with control for 10 rooms 16 000 DKK</vt:lpstr>
      <vt:lpstr>Cost of floor heating Plates of EPS and alu + PEX pipe 350 DKK/m2 = 50 kDKK for 144 m2 house</vt:lpstr>
      <vt:lpstr>Direct electrical radiator and floor heating </vt:lpstr>
      <vt:lpstr>Cost of system for Domestic Hot Water, DHW</vt:lpstr>
      <vt:lpstr>Cost of electrical DHW tank 160 L: 6500 DKK </vt:lpstr>
      <vt:lpstr>Ventilation air handling unit with passive heat recovery </vt:lpstr>
      <vt:lpstr>   Nilan Compact P with ventilation + DHW by heat pump  Price: 60kDDK</vt:lpstr>
      <vt:lpstr>PowerPoint Presentation</vt:lpstr>
      <vt:lpstr>PowerPoint Presentation</vt:lpstr>
      <vt:lpstr>Heat pump air2water positive list</vt:lpstr>
      <vt:lpstr>Cost of system for ventilation, heating and DHW based on district heating</vt:lpstr>
      <vt:lpstr>Cost of system for air-heating and DHW based on compact unit Nilan Compact P</vt:lpstr>
      <vt:lpstr>Cost of ventilation and heating based on passive heat recovery and electrical DHW and direct electrical radiators</vt:lpstr>
      <vt:lpstr>Flexible tariffs and PEFs</vt:lpstr>
      <vt:lpstr>Tariffs </vt:lpstr>
      <vt:lpstr>Low, mid, high tariffs</vt:lpstr>
      <vt:lpstr>Primary energy factors - PEFs</vt:lpstr>
      <vt:lpstr>Time-varying electricity prices</vt:lpstr>
      <vt:lpstr>CO2 emission intensity – DK</vt:lpstr>
      <vt:lpstr>Flexible PEFs from CO2 emission intensity Daily average: 1.9</vt:lpstr>
      <vt:lpstr>PowerPoint Presentation</vt:lpstr>
      <vt:lpstr>PowerPoint Presentation</vt:lpstr>
      <vt:lpstr>PowerPoint Presentation</vt:lpstr>
      <vt:lpstr>PowerPoint Presentation</vt:lpstr>
      <vt:lpstr>Heat pump</vt:lpstr>
      <vt:lpstr>Division of systems into</vt:lpstr>
      <vt:lpstr>Plate heat exchanger</vt:lpstr>
      <vt:lpstr>https://www.youtube.com/watch?v=Jv5p7o-7Pms</vt:lpstr>
      <vt:lpstr>Plate heat exchangers for big applications</vt:lpstr>
      <vt:lpstr>PowerPoint Presentation</vt:lpstr>
      <vt:lpstr>PowerPoint Presentation</vt:lpstr>
      <vt:lpstr>Gaskedel</vt:lpstr>
      <vt:lpstr>Need for space heating? </vt:lpstr>
      <vt:lpstr>Medtag noget med low-temp fjenvarme med boosterpumpe. Se på Svend og Steffens arb</vt:lpstr>
      <vt:lpstr>Medtag noget mere om pex pipes, manifolde, hvordan vand systemer bygges idag</vt:lpstr>
      <vt:lpstr>Medtag Radiant floor from Weber</vt:lpstr>
      <vt:lpstr>Mixing plant</vt:lpstr>
    </vt:vector>
  </TitlesOfParts>
  <Company>DTU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Ceiling fans for peak periods</dc:title>
  <dc:creator>Christian Anker Hviid, DTU Construct</dc:creator>
  <cp:lastModifiedBy>Christian Anker Hviid</cp:lastModifiedBy>
  <cp:revision>46</cp:revision>
  <cp:lastPrinted>2021-10-25T10:33:58Z</cp:lastPrinted>
  <dcterms:created xsi:type="dcterms:W3CDTF">2021-10-19T14:45:00Z</dcterms:created>
  <dcterms:modified xsi:type="dcterms:W3CDTF">2026-10-07T20:32:02Z</dcterms:modified>
  <dc:subject>41463 High Performance Buildings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dIsCodeFreeTemplate">
    <vt:lpwstr>True</vt:lpwstr>
  </property>
  <property fmtid="{D5CDD505-2E9C-101B-9397-08002B2CF9AE}" pid="3" name="TemplafyTenantId">
    <vt:lpwstr>dtu</vt:lpwstr>
  </property>
  <property fmtid="{D5CDD505-2E9C-101B-9397-08002B2CF9AE}" pid="4" name="TemplafyTemplateId">
    <vt:lpwstr>636784030496976655</vt:lpwstr>
  </property>
  <property fmtid="{D5CDD505-2E9C-101B-9397-08002B2CF9AE}" pid="5" name="TemplafyUserProfileId">
    <vt:lpwstr>637950229595781733</vt:lpwstr>
  </property>
  <property fmtid="{D5CDD505-2E9C-101B-9397-08002B2CF9AE}" pid="6" name="TemplafyLanguageCode">
    <vt:lpwstr>en-GB</vt:lpwstr>
  </property>
</Properties>
</file>