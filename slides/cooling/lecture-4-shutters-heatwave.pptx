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  <p:sldMasterId id="2147483648" r:id="rId8"/>
  </p:sldMasterIdLst>
  <p:notesMasterIdLst>
    <p:notesMasterId r:id="rId98"/>
  </p:notesMasterIdLst>
  <p:handoutMasterIdLst>
    <p:handoutMasterId r:id="rId9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x="12190413" cy="6858000"/>
  <p:notesSz cx="6858000" cy="9144000"/>
  <p:custDataLst>
    <p:tags r:id="rId10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6FDE3-94FD-4C10-8D4F-CBB43A879E3E}" v="6" dt="2026-10-07T20:30:4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8" autoAdjust="0"/>
    <p:restoredTop sz="96098" autoAdjust="0"/>
  </p:normalViewPr>
  <p:slideViewPr>
    <p:cSldViewPr showGuides="1">
      <p:cViewPr varScale="1">
        <p:scale>
          <a:sx n="94" d="100"/>
          <a:sy n="94" d="100"/>
        </p:scale>
        <p:origin x="90" y="3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slideMaster" Target="slideMasters/slideMaster1.xml"/><Relationship Id="rId8" Type="http://schemas.openxmlformats.org/officeDocument/2006/relationships/slideMaster" Target="slideMasters/slideMaster2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98" Type="http://schemas.openxmlformats.org/officeDocument/2006/relationships/notesMaster" Target="notesMasters/notesMaster1.xml"/><Relationship Id="rId99" Type="http://schemas.openxmlformats.org/officeDocument/2006/relationships/handoutMaster" Target="handoutMasters/handoutMaster1.xml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microsoft.com/office/2016/11/relationships/changesInfo" Target="changesInfos/changesInfo1.xml"/><Relationship Id="rId10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nker Hviid" userId="bae0bce0-65f9-439a-b9ea-9e02c6eefaa0" providerId="ADAL" clId="{3448FE47-1094-44DD-B9A2-7F65BCBFB61F}"/>
    <pc:docChg chg="undo custSel addSld delSld modSld sldOrd modMainMaster">
      <pc:chgData name="Christian Anker Hviid" userId="bae0bce0-65f9-439a-b9ea-9e02c6eefaa0" providerId="ADAL" clId="{3448FE47-1094-44DD-B9A2-7F65BCBFB61F}" dt="2026-10-07T20:31:55.564" v="2343" actId="20577"/>
      <pc:docMkLst>
        <pc:docMk/>
      </pc:docMkLst>
      <pc:sldChg chg="modSp new mod ord modShow">
        <pc:chgData name="Christian Anker Hviid" userId="bae0bce0-65f9-439a-b9ea-9e02c6eefaa0" providerId="ADAL" clId="{3448FE47-1094-44DD-B9A2-7F65BCBFB61F}" dt="2026-10-07T20:31:55.564" v="2343" actId="20577"/>
        <pc:sldMkLst>
          <pc:docMk/>
          <pc:sldMk cId="1600414983" sldId="398"/>
        </pc:sldMkLst>
        <pc:spChg chg="mod">
          <ac:chgData name="Christian Anker Hviid" userId="bae0bce0-65f9-439a-b9ea-9e02c6eefaa0" providerId="ADAL" clId="{3448FE47-1094-44DD-B9A2-7F65BCBFB61F}" dt="2026-10-07T20:21:04.850" v="1707" actId="20577"/>
          <ac:spMkLst>
            <pc:docMk/>
            <pc:sldMk cId="1600414983" sldId="398"/>
            <ac:spMk id="2" creationId="{58590A65-FE16-8C42-340F-8B327F3DF827}"/>
          </ac:spMkLst>
        </pc:spChg>
        <pc:spChg chg="mod">
          <ac:chgData name="Christian Anker Hviid" userId="bae0bce0-65f9-439a-b9ea-9e02c6eefaa0" providerId="ADAL" clId="{3448FE47-1094-44DD-B9A2-7F65BCBFB61F}" dt="2026-10-07T20:31:55.564" v="2343" actId="20577"/>
          <ac:spMkLst>
            <pc:docMk/>
            <pc:sldMk cId="1600414983" sldId="398"/>
            <ac:spMk id="3" creationId="{FB86305B-0C31-EC4A-02D7-57085DB041A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Warmest week 16–22 July 2054: 87 of 168 hours below 24 °C outdoors, so night venting through the hatches still works. Computed in make_figures.py.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Farahani et al. 2021, Appl. Sci. 11:3972 (doi 10.3390/app11093972), summarised in cooling-background-inventory.md.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4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975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203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Construct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41463 HPB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Passive cooling 4: Shutters and fans in a heat wave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9" r:id="rId12"/>
    <p:sldLayoutId id="2147483680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694" y="304800"/>
            <a:ext cx="10361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694" y="1600200"/>
            <a:ext cx="10361851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text styles</a:t>
            </a:r>
          </a:p>
          <a:p>
            <a:pPr lvl="1"/>
            <a:r>
              <a:rPr lang="en-GB" altLang="da-DK"/>
              <a:t>Second level</a:t>
            </a:r>
          </a:p>
          <a:p>
            <a:pPr lvl="2"/>
            <a:r>
              <a:rPr lang="en-GB" altLang="da-DK"/>
              <a:t>Third level</a:t>
            </a:r>
          </a:p>
          <a:p>
            <a:pPr lvl="3"/>
            <a:r>
              <a:rPr lang="en-GB" altLang="da-DK"/>
              <a:t>Fourth level</a:t>
            </a:r>
          </a:p>
          <a:p>
            <a:pPr lvl="4"/>
            <a:r>
              <a:rPr lang="en-GB" altLang="da-DK"/>
              <a:t>Fifth level</a:t>
            </a:r>
          </a:p>
        </p:txBody>
      </p:sp>
      <p:pic>
        <p:nvPicPr>
          <p:cNvPr id="1028" name="Picture 9" descr="DTU-DK-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399" y="279400"/>
            <a:ext cx="6391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1"/>
          <p:cNvSpPr>
            <a:spLocks noChangeArrowheads="1"/>
          </p:cNvSpPr>
          <p:nvPr userDrawn="1"/>
        </p:nvSpPr>
        <p:spPr bwMode="auto">
          <a:xfrm>
            <a:off x="10156563" y="6477000"/>
            <a:ext cx="101798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GB" altLang="da-DK" sz="900"/>
              <a:t>01/06/2018</a:t>
            </a:r>
            <a:endParaRPr lang="da-DK" altLang="da-DK" sz="90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6399968" y="6477000"/>
            <a:ext cx="365500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da-DK" altLang="da-DK" sz="900"/>
              <a:t>Heating systems in dwellings</a:t>
            </a:r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812694" y="6477000"/>
            <a:ext cx="40634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fld id="{B1456AA2-CE4E-48AF-8349-909CA6F24395}" type="slidenum">
              <a:rPr lang="da-DK" altLang="da-DK" sz="900"/>
              <a:pPr>
                <a:spcBef>
                  <a:spcPct val="0"/>
                </a:spcBef>
              </a:pPr>
              <a:t>‹#›</a:t>
            </a:fld>
            <a:endParaRPr lang="da-DK" altLang="da-DK" sz="900"/>
          </a:p>
        </p:txBody>
      </p:sp>
      <p:sp>
        <p:nvSpPr>
          <p:cNvPr id="1032" name="Rectangle 14"/>
          <p:cNvSpPr>
            <a:spLocks noChangeArrowheads="1"/>
          </p:cNvSpPr>
          <p:nvPr userDrawn="1"/>
        </p:nvSpPr>
        <p:spPr bwMode="auto">
          <a:xfrm>
            <a:off x="1318513" y="6477000"/>
            <a:ext cx="4922726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GB" altLang="da-DK" sz="900" b="1"/>
              <a:t>DTU Civil Engineering, Technical University of Denmark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88913" indent="-188913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95263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2pPr>
      <a:lvl3pPr marL="127952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98625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Shutters and fans in a heat wave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Passive cooling, lecture 4 of 4  ·  Assignment 4, part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Heat waves in future Copenhagen</a:t>
            </a:r>
          </a:p>
          <a:p>
            <a:pPr/>
            <a:r>
              <a:t>The Annex 80 heat-wave files</a:t>
            </a:r>
          </a:p>
          <a:p>
            <a:pPr/>
            <a:r>
              <a:t>External shutters and their control</a:t>
            </a:r>
          </a:p>
          <a:p>
            <a:pPr/>
            <a:r>
              <a:t>Shutters in IDA ICE</a:t>
            </a:r>
          </a:p>
          <a:p>
            <a:pPr/>
            <a:r>
              <a:t>Fans on top</a:t>
            </a:r>
          </a:p>
          <a:p>
            <a:pPr/>
            <a:r>
              <a:t>Assignment part 4 and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in the cooling assignment</a:t>
            </a:r>
          </a:p>
        </p:txBody>
      </p:sp>
      <p:sp>
        <p:nvSpPr>
          <p:cNvPr id="3" name="Part 1"/>
          <p:cNvSpPr/>
          <p:nvPr/>
        </p:nvSpPr>
        <p:spPr>
          <a:xfrm>
            <a:off x="1774726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1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Window size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AutoMOO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08509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t 2"/>
          <p:cNvSpPr/>
          <p:nvPr/>
        </p:nvSpPr>
        <p:spPr>
          <a:xfrm>
            <a:off x="4182829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65709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2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Venting hatch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jet theory, draught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16612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t 3"/>
          <p:cNvSpPr/>
          <p:nvPr/>
        </p:nvSpPr>
        <p:spPr>
          <a:xfrm>
            <a:off x="6590932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73812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3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Ceiling fans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peak periods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4715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t 4"/>
          <p:cNvSpPr/>
          <p:nvPr/>
        </p:nvSpPr>
        <p:spPr>
          <a:xfrm>
            <a:off x="8999035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81915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Part 4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</a:rPr>
              <a:t>Shutters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heat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840480"/>
            <a:ext cx="931237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Step 5 of the cooling strategy: in a heat wave, close external shutters during the day.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The hatches keep ventilating while the shutters are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Heat waves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2054 heat wave: four weeks near the comfort limit</a:t>
            </a:r>
          </a:p>
        </p:txBody>
      </p:sp>
      <p:pic>
        <p:nvPicPr>
          <p:cNvPr id="3" name="Picture 2" descr="heatwave-2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663" y="1709928"/>
            <a:ext cx="8226499" cy="4142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4726" y="589788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E6E6E"/>
                </a:solidFill>
              </a:rPr>
              <a:t>5A_Copenhagen_HW_Midterm_MostSevere_2054.epw (Annex 80, MPI-REMO RCP8.5). Limit θc + 3 °C with θc = 0.33 θrm + 18.8.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 days, but the nights still cool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21223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32.0 °C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4726" y="2487168"/>
            <a:ext cx="21223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Outdoor maximum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1399" y="1709928"/>
            <a:ext cx="21223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1399" y="2487168"/>
            <a:ext cx="21223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above 28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8072" y="1709928"/>
            <a:ext cx="21223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11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8072" y="2487168"/>
            <a:ext cx="21223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Coldest night in the heat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4745" y="1709928"/>
            <a:ext cx="21223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28–30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4745" y="2487168"/>
            <a:ext cx="21223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Adaptive cat. II upper limit</a:t>
            </a:r>
          </a:p>
        </p:txBody>
      </p:sp>
      <p:pic>
        <p:nvPicPr>
          <p:cNvPr id="11" name="Picture 10" descr="heatwave-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225" y="3291840"/>
            <a:ext cx="588737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heat-wave file?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74726" y="1709928"/>
          <a:ext cx="93123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959"/>
                <a:gridCol w="931237"/>
                <a:gridCol w="5401176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Annex 80 Copenhagen file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Use?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HW_Midterm_MostSevere_2054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9 Jul – 5 Aug, max 32.0 °C. Hand out a cleaned file: a few corrupt GHI/DHI hours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HW_Midterm_MostIntense_2055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Optional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For comparison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HW_Midterm_Longest_2045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 solar radiation on 1–14 August, in the middle of the heat wave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74726" y="4114800"/>
            <a:ext cx="931237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Files are full years: annual results are meaningless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Extract the heat-wave period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literature says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5587424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525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90000"/>
                </a:solidFill>
              </a:rPr>
              <a:t>Farahani et al. (2021), Finnish apartments in IDA 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5258240" cy="3218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Heat-wave summers: about 10,000 Kh above 27 °C (2018) and 14,000 Kh (synthetic 2050)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Orientation, blinds and site shading helped little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Openable windows were the most effective passive measure in the new building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Only a split AC unit removed overheating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34645" y="1709928"/>
            <a:ext cx="335245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6E6E6E"/>
                </a:solidFill>
              </a:rPr>
              <a:t>Question for the class: what would external shutters and hatches have changed in that study?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Shutters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shutters block almost all solar gain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921244" cy="2560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25920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Solar factor multiplier about 0.05–0.1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Stops the gain before it 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0290" y="1709928"/>
            <a:ext cx="2921244" cy="2560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34882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4882" y="2331720"/>
            <a:ext cx="25920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Daylight and view out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So keep them for the hottest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854" y="1709928"/>
            <a:ext cx="2921244" cy="2560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0446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446" y="2331720"/>
            <a:ext cx="25920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Shutters close the window as an opening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The hatch must be a separate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4726" y="4572000"/>
            <a:ext cx="931237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South, east and west windows. Decide about north and argue for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shutter control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860284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2640828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Incident solar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&gt; 150–200 W/m² on the window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89874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0770" y="1709928"/>
            <a:ext cx="2860284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10498" y="1783080"/>
            <a:ext cx="2640828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and room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above a temperature threshold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15918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6814" y="1709928"/>
            <a:ext cx="2860284" cy="128016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6542" y="1783080"/>
            <a:ext cx="2640828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Close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otherwise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4726" y="3383280"/>
            <a:ext cx="931237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700" b="1" i="0">
                <a:solidFill>
                  <a:srgbClr val="262626"/>
                </a:solidFill>
              </a:rPr>
              <a:t>Think like an occupant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Would they accept closed shutters in the morning, or at weekends?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Who overrides the automation, and when?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shutters in IDA ICE</a:t>
            </a:r>
          </a:p>
        </p:txBody>
      </p:sp>
      <p:sp>
        <p:nvSpPr>
          <p:cNvPr id="3" name="To develop"/>
          <p:cNvSpPr/>
          <p:nvPr/>
        </p:nvSpPr>
        <p:spPr>
          <a:xfrm>
            <a:off x="1774726" y="1709928"/>
            <a:ext cx="9312374" cy="4370832"/>
          </a:xfrm>
          <a:prstGeom prst="rect">
            <a:avLst/>
          </a:prstGeom>
          <a:noFill/>
          <a:ln w="19050">
            <a:solidFill>
              <a:srgbClr val="6E6E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03326" y="1892808"/>
            <a:ext cx="885517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990000"/>
                </a:solidFill>
              </a:rPr>
              <a:t>TO DEVELOP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External shading device with low solar factor and its own control (schedule, solar radiation, zone temperature).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Check the shutter does not also close the hatch.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Extract the heat-wave period; plot outdoor, zone operative and adaptive limit for the warmest week.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Fans on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the heat wave step by step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74726" y="1709928"/>
          <a:ext cx="93123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959"/>
                <a:gridCol w="1583103"/>
                <a:gridCol w="1583103"/>
                <a:gridCol w="1769351"/>
                <a:gridCol w="1396856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Heat wave, critical zone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Hours &gt; cat. II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Max T_op (°C)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Warmest night (°C)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Fan kWh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Part 2 hatches 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+ shutters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+ shutters + fans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74726" y="4206240"/>
            <a:ext cx="931237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Warmest night = mean operative temperature 23–07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Fans: recount the hours with the cooling effect from part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Wrap-up: the whole cooling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9312374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2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Which of the four steps gave the largest cut in overheating hours per krone? Which was free?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Where in the year does your hatch hit its draught limit, and would occupants close it anyway?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A fan with a COP of 50 sounds better than any air-conditioner. What does the comparison leave out?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Shutters solve the heat wave but darken the home. How would you hand the decision to the occupants?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Is the house safe to live in during the heat wave without active cooling?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DTU Civil Engineering">
  <a:themeElements>
    <a:clrScheme name="DTU Civil Engineering 13">
      <a:dk1>
        <a:srgbClr val="000000"/>
      </a:dk1>
      <a:lt1>
        <a:srgbClr val="FFFFFF"/>
      </a:lt1>
      <a:dk2>
        <a:srgbClr val="990000"/>
      </a:dk2>
      <a:lt2>
        <a:srgbClr val="999999"/>
      </a:lt2>
      <a:accent1>
        <a:srgbClr val="FF9900"/>
      </a:accent1>
      <a:accent2>
        <a:srgbClr val="FF66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5C00"/>
      </a:accent6>
      <a:hlink>
        <a:srgbClr val="FF0000"/>
      </a:hlink>
      <a:folHlink>
        <a:srgbClr val="990000"/>
      </a:folHlink>
    </a:clrScheme>
    <a:fontScheme name="DTU Civil Engineering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lnDef>
  </a:objectDefaults>
  <a:extraClrSchemeLst>
    <a:extraClrScheme>
      <a:clrScheme name="DTU Civil Eng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3">
        <a:dk1>
          <a:srgbClr val="000000"/>
        </a:dk1>
        <a:lt1>
          <a:srgbClr val="FFFFFF"/>
        </a:lt1>
        <a:dk2>
          <a:srgbClr val="990000"/>
        </a:dk2>
        <a:lt2>
          <a:srgbClr val="999999"/>
        </a:lt2>
        <a:accent1>
          <a:srgbClr val="FF9900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5C00"/>
        </a:accent6>
        <a:hlink>
          <a:srgbClr val="FF0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YuLtZURdK3xNkPTH0fbT1A=="},{"name":"PresentationTitle","value":"r/LsGLKaYCx5eFWDMe7G8Wrniink23TC/tGWLRdEGdc="}]}]]></TemplafyFormConfiguration>
</file>

<file path=customXml/item2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Props1.xml><?xml version="1.0" encoding="utf-8"?>
<ds:datastoreItem xmlns:ds="http://schemas.openxmlformats.org/officeDocument/2006/customXml" ds:itemID="{05DC2B94-7C1B-4C14-83B0-9CD2A82C27E0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56C8BFB2-A911-4310-9D4A-421D773FAFA6}">
  <ds:schemaRefs/>
</ds:datastoreItem>
</file>

<file path=customXml/itemProps5.xml><?xml version="1.0" encoding="utf-8"?>
<ds:datastoreItem xmlns:ds="http://schemas.openxmlformats.org/officeDocument/2006/customXml" ds:itemID="{F4C08C7F-F953-44DE-ACDE-930692BDDB0F}">
  <ds:schemaRefs/>
</ds:datastoreItem>
</file>

<file path=customXml/itemProps6.xml><?xml version="1.0" encoding="utf-8"?>
<ds:datastoreItem xmlns:ds="http://schemas.openxmlformats.org/officeDocument/2006/customXml" ds:itemID="{02E7CCCE-613B-4CED-B813-E473EA1E01B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16088</TotalTime>
  <Words>2502</Words>
  <Application>Microsoft Office PowerPoint</Application>
  <PresentationFormat>Custom</PresentationFormat>
  <Paragraphs>401</Paragraphs>
  <Slides>89</Slides>
  <Notes>1</Notes>
  <HiddenSlides>36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Arial</vt:lpstr>
      <vt:lpstr>Symbol</vt:lpstr>
      <vt:lpstr>Times New Roman</vt:lpstr>
      <vt:lpstr>Verdana</vt:lpstr>
      <vt:lpstr>Wingdings</vt:lpstr>
      <vt:lpstr>Blank</vt:lpstr>
      <vt:lpstr>DTU Civil Engineering</vt:lpstr>
      <vt:lpstr>Ligning</vt:lpstr>
      <vt:lpstr>Space heating systems for box buildings as ONZEB</vt:lpstr>
      <vt:lpstr>DHW tank</vt:lpstr>
      <vt:lpstr>PowerPoint Presentation</vt:lpstr>
      <vt:lpstr>Make a slide with LCC</vt:lpstr>
      <vt:lpstr>Improvements</vt:lpstr>
      <vt:lpstr>Agenda</vt:lpstr>
      <vt:lpstr>Floor heating systems</vt:lpstr>
      <vt:lpstr>Hydronic floor heating systems</vt:lpstr>
      <vt:lpstr>Types of floor heating system:  concrete slab or wood beam floor </vt:lpstr>
      <vt:lpstr>Light or heavy</vt:lpstr>
      <vt:lpstr>Floor heating installation </vt:lpstr>
      <vt:lpstr>Manifold distributes water horizontally What about vertically? </vt:lpstr>
      <vt:lpstr>Pipes </vt:lpstr>
      <vt:lpstr>PowerPoint Presentation</vt:lpstr>
      <vt:lpstr>Loops layouts to achieve even temperature distribution between supply and return</vt:lpstr>
      <vt:lpstr>Shunt controls supply temperature to manifold</vt:lpstr>
      <vt:lpstr>PowerPoint Presentation</vt:lpstr>
      <vt:lpstr>PowerPoint Presentation</vt:lpstr>
      <vt:lpstr>Short and long pipes needs balancing </vt:lpstr>
      <vt:lpstr>Pre-settings to ensure that long and short pipes have the correct massflow</vt:lpstr>
      <vt:lpstr>How important is balancing?  Potential reduction in supply temperature in apartment</vt:lpstr>
      <vt:lpstr>Digital twin of floor heating system  </vt:lpstr>
      <vt:lpstr>Heat transfer from surface to room using floor heating</vt:lpstr>
      <vt:lpstr>Thermal comfort of floor surface temperature</vt:lpstr>
      <vt:lpstr>Calculation of heat transfer coefficient according to EN15377-1 Annex C</vt:lpstr>
      <vt:lpstr>Heating capacity at a given surface temperature Required surface temperature at given heat output</vt:lpstr>
      <vt:lpstr>Heating capacity at a given surface temperature Required surface temperature at given heat output</vt:lpstr>
      <vt:lpstr>Heating capacity at a given surface temperature Required surface temperature at given heat output</vt:lpstr>
      <vt:lpstr>Control</vt:lpstr>
      <vt:lpstr>Pulse-width modulation (PWM) </vt:lpstr>
      <vt:lpstr>Alternative to active control: self-regulation</vt:lpstr>
      <vt:lpstr>Floor heating models in HEAT2 and in IDA ICE Real operation</vt:lpstr>
      <vt:lpstr> Temperature distribution with water temperatures of 40 C and 23 C</vt:lpstr>
      <vt:lpstr>Detailed 3D model of floor in COMSOL used for comparison with 1D model of IDA ICE</vt:lpstr>
      <vt:lpstr>PowerPoint Presentation</vt:lpstr>
      <vt:lpstr>PowerPoint Presentation</vt:lpstr>
      <vt:lpstr>PowerPoint Presentation</vt:lpstr>
      <vt:lpstr>Learnings</vt:lpstr>
      <vt:lpstr>Bathroom floor comfort heating with separate mixing loop</vt:lpstr>
      <vt:lpstr>PowerPoint Presentation</vt:lpstr>
      <vt:lpstr>Ground heat exchanger for floor cooling and preheating of supply air for ventilation</vt:lpstr>
      <vt:lpstr>Preheating supply air to prevent freezing Basic cooling in summer</vt:lpstr>
      <vt:lpstr>Preheating of supply air to prevent frost </vt:lpstr>
      <vt:lpstr>Floor cooling and air supply preheating</vt:lpstr>
      <vt:lpstr>Danfoss ventilation unit  </vt:lpstr>
      <vt:lpstr>Preheating and precooling by geothermal loop</vt:lpstr>
      <vt:lpstr>Pipe lengths </vt:lpstr>
      <vt:lpstr>Laying pipe </vt:lpstr>
      <vt:lpstr>Improved frost protection performance </vt:lpstr>
      <vt:lpstr>Heating solution costs</vt:lpstr>
      <vt:lpstr>A cheaper heating system in the row house? </vt:lpstr>
      <vt:lpstr>PowerPoint Presentation</vt:lpstr>
      <vt:lpstr>Cost of floor heating Central unit with control for 10 rooms 16 000 DKK</vt:lpstr>
      <vt:lpstr>Cost of floor heating Plates of EPS and alu + PEX pipe 350 DKK/m2 = 50 kDKK for 144 m2 house</vt:lpstr>
      <vt:lpstr>Direct electrical radiator and floor heating </vt:lpstr>
      <vt:lpstr>Cost of system for Domestic Hot Water, DHW</vt:lpstr>
      <vt:lpstr>Cost of electrical DHW tank 160 L: 6500 DKK </vt:lpstr>
      <vt:lpstr>Ventilation air handling unit with passive heat recovery </vt:lpstr>
      <vt:lpstr>   Nilan Compact P with ventilation + DHW by heat pump  Price: 60kDDK</vt:lpstr>
      <vt:lpstr>PowerPoint Presentation</vt:lpstr>
      <vt:lpstr>PowerPoint Presentation</vt:lpstr>
      <vt:lpstr>Heat pump air2water positive list</vt:lpstr>
      <vt:lpstr>Cost of system for ventilation, heating and DHW based on district heating</vt:lpstr>
      <vt:lpstr>Cost of system for air-heating and DHW based on compact unit Nilan Compact P</vt:lpstr>
      <vt:lpstr>Cost of ventilation and heating based on passive heat recovery and electrical DHW and direct electrical radiators</vt:lpstr>
      <vt:lpstr>Flexible tariffs and PEFs</vt:lpstr>
      <vt:lpstr>Tariffs </vt:lpstr>
      <vt:lpstr>Low, mid, high tariffs</vt:lpstr>
      <vt:lpstr>Primary energy factors - PEFs</vt:lpstr>
      <vt:lpstr>Time-varying electricity prices</vt:lpstr>
      <vt:lpstr>CO2 emission intensity – DK</vt:lpstr>
      <vt:lpstr>Flexible PEFs from CO2 emission intensity Daily average: 1.9</vt:lpstr>
      <vt:lpstr>PowerPoint Presentation</vt:lpstr>
      <vt:lpstr>PowerPoint Presentation</vt:lpstr>
      <vt:lpstr>PowerPoint Presentation</vt:lpstr>
      <vt:lpstr>PowerPoint Presentation</vt:lpstr>
      <vt:lpstr>Heat pump</vt:lpstr>
      <vt:lpstr>Division of systems into</vt:lpstr>
      <vt:lpstr>Plate heat exchanger</vt:lpstr>
      <vt:lpstr>https://www.youtube.com/watch?v=Jv5p7o-7Pms</vt:lpstr>
      <vt:lpstr>Plate heat exchangers for big applications</vt:lpstr>
      <vt:lpstr>PowerPoint Presentation</vt:lpstr>
      <vt:lpstr>PowerPoint Presentation</vt:lpstr>
      <vt:lpstr>Gaskedel</vt:lpstr>
      <vt:lpstr>Need for space heating? </vt:lpstr>
      <vt:lpstr>Medtag noget med low-temp fjenvarme med boosterpumpe. Se på Svend og Steffens arb</vt:lpstr>
      <vt:lpstr>Medtag noget mere om pex pipes, manifolde, hvordan vand systemer bygges idag</vt:lpstr>
      <vt:lpstr>Medtag Radiant floor from Weber</vt:lpstr>
      <vt:lpstr>Mixing plant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Shutters and fans in a heat wave</dc:title>
  <dc:creator>Christian Anker Hviid, DTU Construct</dc:creator>
  <cp:lastModifiedBy>Christian Anker Hviid</cp:lastModifiedBy>
  <cp:revision>46</cp:revision>
  <cp:lastPrinted>2021-10-25T10:33:58Z</cp:lastPrinted>
  <dcterms:created xsi:type="dcterms:W3CDTF">2021-10-19T14:45:00Z</dcterms:created>
  <dcterms:modified xsi:type="dcterms:W3CDTF">2026-10-07T20:32:02Z</dcterms:modified>
  <dc:subject>41463 High Performance Buildings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637950229595781733</vt:lpwstr>
  </property>
  <property fmtid="{D5CDD505-2E9C-101B-9397-08002B2CF9AE}" pid="6" name="TemplafyLanguageCode">
    <vt:lpwstr>en-GB</vt:lpwstr>
  </property>
</Properties>
</file>